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8" r:id="rId2"/>
    <p:sldId id="259" r:id="rId3"/>
    <p:sldId id="305" r:id="rId4"/>
    <p:sldId id="30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303" r:id="rId42"/>
    <p:sldId id="304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128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1AAE5-7931-4FB4-8C85-3D29055211FD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EC641-A00C-411F-A3D9-D4AE839FE4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E2484-D65E-4F63-80C0-BF0725329423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46FAC-40DA-4A1C-82E7-2F93BE754E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c/Geekyshows" TargetMode="External"/><Relationship Id="rId5" Type="http://schemas.openxmlformats.org/officeDocument/2006/relationships/hyperlink" Target="https://www.youtube.com/c/CodersGyan" TargetMode="External"/><Relationship Id="rId4" Type="http://schemas.openxmlformats.org/officeDocument/2006/relationships/hyperlink" Target="https://www.geeksforgeeks.org/react-tutori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828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Shri Vaishnav Institute of Management &amp; Science, Indore</a:t>
            </a:r>
            <a:br>
              <a:rPr lang="en-US" sz="31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Department of Computer Science</a:t>
            </a:r>
            <a:br>
              <a:rPr lang="en-US" sz="31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667000"/>
            <a:ext cx="6172200" cy="1371600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Major Project : MCA 404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(2023 –2025) </a:t>
            </a:r>
          </a:p>
          <a:p>
            <a:pPr>
              <a:defRPr/>
            </a:pPr>
            <a:r>
              <a:rPr lang="en-US" b="1" dirty="0" err="1">
                <a:solidFill>
                  <a:srgbClr val="4413F9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b="1" dirty="0">
                <a:solidFill>
                  <a:srgbClr val="4413F9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000" b="1" dirty="0">
              <a:solidFill>
                <a:srgbClr val="1919F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1" descr="http://www.svimi.org/images/template4_03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1524000"/>
            <a:ext cx="1295400" cy="103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Subtitle 2"/>
          <p:cNvSpPr txBox="1">
            <a:spLocks/>
          </p:cNvSpPr>
          <p:nvPr/>
        </p:nvSpPr>
        <p:spPr bwMode="auto">
          <a:xfrm>
            <a:off x="1371600" y="4267200"/>
            <a:ext cx="6400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buFont typeface="Arial" charset="0"/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ctr">
              <a:buFont typeface="Arial" charset="0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buFont typeface="Arial" charset="0"/>
              <a:buNone/>
            </a:pPr>
            <a:r>
              <a:rPr 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DEEPANSHU RATHORE</a:t>
            </a:r>
          </a:p>
          <a:p>
            <a:pPr algn="ctr">
              <a:buFont typeface="Arial" charset="0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(0807CA231024)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  <a:p>
            <a:pPr marL="742950" indent="-403225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403225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Overview</a:t>
            </a:r>
          </a:p>
          <a:p>
            <a:pPr marL="1312863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Project</a:t>
            </a:r>
          </a:p>
          <a:p>
            <a:pPr marL="1312863" indent="-222250"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403225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Problem Investigation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Goal &amp; Objectives of the Project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Feasibility Analysis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Solution Suggested</a:t>
            </a:r>
          </a:p>
          <a:p>
            <a:pPr marL="742950" indent="-403225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403225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Analysis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Introduction to Proposed System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Information Gathering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Process Model Used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Process Chart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2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Data Flow Diagram &amp; Data Dictionary</a:t>
            </a:r>
          </a:p>
          <a:p>
            <a:pPr marL="1312863" lvl="2" indent="-973138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33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00150" lvl="1" indent="-7429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  <a:p>
            <a:pPr marL="742950" indent="-403225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Planning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Project Resources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Team Organization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Schedule</a:t>
            </a:r>
          </a:p>
          <a:p>
            <a:pPr marL="742950" indent="-403225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Design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Design Methodology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Database Design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Forms and Report Design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Test Case Design (Manual / Automated)</a:t>
            </a:r>
          </a:p>
          <a:p>
            <a:pPr marL="742950" indent="-403225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Tools Used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Front End and Back End</a:t>
            </a:r>
          </a:p>
          <a:p>
            <a:pPr marL="1200150" lvl="1" indent="-742950" algn="l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  <a:p>
            <a:pPr marL="742950" indent="-403225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Testing</a:t>
            </a:r>
          </a:p>
          <a:p>
            <a:pPr marL="742950" indent="-403225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Administrative Functions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User Functions</a:t>
            </a:r>
          </a:p>
          <a:p>
            <a:pPr marL="1312863" lvl="1" indent="-22225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Screen layouts</a:t>
            </a:r>
          </a:p>
          <a:p>
            <a:pPr marL="1770063" lvl="2" indent="-22225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Forms Layouts</a:t>
            </a:r>
          </a:p>
          <a:p>
            <a:pPr marL="1770063" lvl="2" indent="-22225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1919F9"/>
                </a:solidFill>
                <a:latin typeface="Times New Roman" pitchFamily="18" charset="0"/>
                <a:cs typeface="Times New Roman" pitchFamily="18" charset="0"/>
              </a:rPr>
              <a:t>Report Layouts</a:t>
            </a:r>
          </a:p>
          <a:p>
            <a:pPr marL="742950" indent="-403225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Conclusions</a:t>
            </a:r>
          </a:p>
          <a:p>
            <a:pPr marL="742950" indent="-403225" algn="l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Bibliography</a:t>
            </a:r>
            <a:endParaRPr lang="en-US" sz="2000" b="1" dirty="0">
              <a:solidFill>
                <a:srgbClr val="1919F9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00150" lvl="1" indent="-74295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1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4102" name="TextBox 5"/>
          <p:cNvSpPr txBox="1">
            <a:spLocks noChangeArrowheads="1"/>
          </p:cNvSpPr>
          <p:nvPr/>
        </p:nvSpPr>
        <p:spPr bwMode="auto">
          <a:xfrm>
            <a:off x="381000" y="2133600"/>
            <a:ext cx="7772400" cy="337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RideSwift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is a user-friendly ride-sharing web application designed to simplify urban travel by connecting passengers with nearby drivers. Built using the MERN stack (MongoDB, Express.js, React.js, and Node.js),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RideSwift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offers an intuitive and visually appealing interface for both riders and drivers. Key features include real-time ride booking based on location and destination, transparent fare estimates, driver tracking, secure online payments, and user registration for a personalized experience. Drivers benefit from a comprehensive admin dashboard to manage ride requests, earnings, and availability. In essence,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RideSwift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streamlines the ride-booking process for both commuters and drivers, offering a reliable and efficient transportation alternative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4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5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Problem Investigation</a:t>
            </a:r>
          </a:p>
        </p:txBody>
      </p:sp>
      <p:sp>
        <p:nvSpPr>
          <p:cNvPr id="5126" name="TextBox 5"/>
          <p:cNvSpPr txBox="1">
            <a:spLocks noChangeArrowheads="1"/>
          </p:cNvSpPr>
          <p:nvPr/>
        </p:nvSpPr>
        <p:spPr bwMode="auto">
          <a:xfrm>
            <a:off x="381000" y="2133600"/>
            <a:ext cx="7772400" cy="463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RideSwift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aims to create an efficient platform to bridge the gap between drivers and passengers in a city environment, ensuring comfort, reliability, and affordability.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Objectives </a:t>
            </a:r>
          </a:p>
          <a:p>
            <a:pPr marL="692785"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 To enable real-time ride booking with live driver location.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692785"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 To simplify urban transportation with a centralized ride-sharing system.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692785"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 To enhance user experience with fare transparency and feedback system.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692785"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 To provide admins and drivers with a powerful management panel.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692785"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 To reduce waiting time for passengers.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8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9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Problem Investigation</a:t>
            </a:r>
          </a:p>
        </p:txBody>
      </p:sp>
      <p:sp>
        <p:nvSpPr>
          <p:cNvPr id="6150" name="TextBox 5"/>
          <p:cNvSpPr txBox="1">
            <a:spLocks noChangeArrowheads="1"/>
          </p:cNvSpPr>
          <p:nvPr/>
        </p:nvSpPr>
        <p:spPr bwMode="auto">
          <a:xfrm>
            <a:off x="381000" y="2133600"/>
            <a:ext cx="7772400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Feasibility Analysis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 is a test of system proposal regarding its work ability, and ability to meet user need, effective use of resources. Thus when a new application is proposed it normally goes through a feasibility analysis before it is approved for deployment.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ctrTitle"/>
          </p:nvPr>
        </p:nvSpPr>
        <p:spPr>
          <a:xfrm>
            <a:off x="251520" y="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04800"/>
            <a:ext cx="8458200" cy="5334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2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3" name="TextBox 4"/>
          <p:cNvSpPr txBox="1">
            <a:spLocks noChangeArrowheads="1"/>
          </p:cNvSpPr>
          <p:nvPr/>
        </p:nvSpPr>
        <p:spPr bwMode="auto">
          <a:xfrm>
            <a:off x="609600" y="6858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Problem Investigation</a:t>
            </a:r>
          </a:p>
        </p:txBody>
      </p:sp>
      <p:sp>
        <p:nvSpPr>
          <p:cNvPr id="6150" name="TextBox 5"/>
          <p:cNvSpPr txBox="1">
            <a:spLocks noChangeArrowheads="1"/>
          </p:cNvSpPr>
          <p:nvPr/>
        </p:nvSpPr>
        <p:spPr bwMode="auto">
          <a:xfrm>
            <a:off x="457200" y="1295400"/>
            <a:ext cx="7772400" cy="5770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Feasibility Analysis</a:t>
            </a:r>
          </a:p>
          <a:p>
            <a:pPr algn="just"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Here's a step-by-step guide to conducting a feasibility study for Tourify project: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 This system is technically feasible because React.js used as a frontend and also used MongoDB as a backend because it is an open source tools.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 I am developing the website at the learning stage so it is difficult to determine the cost of the system and to decide that the project is economical feasible or not.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 All operations are feasible and user friendly. All operations are easy for achievable. The proposed system satisfies the admin and customer's needs. The interface is extremely user friendly.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IN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IN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7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Problem Investigation</a:t>
            </a:r>
          </a:p>
        </p:txBody>
      </p:sp>
      <p:sp>
        <p:nvSpPr>
          <p:cNvPr id="8198" name="TextBox 5"/>
          <p:cNvSpPr txBox="1">
            <a:spLocks noChangeArrowheads="1"/>
          </p:cNvSpPr>
          <p:nvPr/>
        </p:nvSpPr>
        <p:spPr bwMode="auto">
          <a:xfrm>
            <a:off x="381000" y="2133600"/>
            <a:ext cx="7772400" cy="2972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Solution Suggested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 a fast and responsive web application for booking and ride tracking.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 secure logins and session handling for riders and drivers.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 a centralized system for fare estimates, ride requests, and driver allocation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en-IN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20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21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Analysis</a:t>
            </a:r>
          </a:p>
        </p:txBody>
      </p:sp>
      <p:sp>
        <p:nvSpPr>
          <p:cNvPr id="9222" name="TextBox 5"/>
          <p:cNvSpPr txBox="1">
            <a:spLocks noChangeArrowheads="1"/>
          </p:cNvSpPr>
          <p:nvPr/>
        </p:nvSpPr>
        <p:spPr bwMode="auto">
          <a:xfrm>
            <a:off x="381000" y="1676400"/>
            <a:ext cx="7772400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 is a problem-solving technique that breaks down a system into its component parts in order to evaluate how well those components perform and interact to achieve their goals.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Introduction to proposed system</a:t>
            </a:r>
          </a:p>
          <a:p>
            <a:pPr algn="just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RideSwift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a user-friendly ride-sharing web application designed to simplify urban travel by connecting passengers with nearby drivers. Built using the MERN stack (MongoDB, Express.js, React.js, and Node.js),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RideSwift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offers an intuitive and visually appealing interface for both riders and drivers. Key features include real-time ride booking based on location and destination, transparent fare estimates, driver tracking, secure online payments, and user registration for a personalized experience. Drivers benefit from a comprehensive admin dashboard to manage ride requests, earnings, and availability. In essence,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RideSwift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streamlines the ride-booking process for both commuters and drivers, offering a reliable and efficient transportation alternative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SzPct val="128000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4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5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Analysis</a:t>
            </a:r>
          </a:p>
        </p:txBody>
      </p:sp>
      <p:sp>
        <p:nvSpPr>
          <p:cNvPr id="10246" name="TextBox 5"/>
          <p:cNvSpPr txBox="1">
            <a:spLocks noChangeArrowheads="1"/>
          </p:cNvSpPr>
          <p:nvPr/>
        </p:nvSpPr>
        <p:spPr bwMode="auto">
          <a:xfrm>
            <a:off x="381000" y="1676400"/>
            <a:ext cx="7772400" cy="5770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System analysis is a problem-solving technique that breaks down a system into its component parts in order to evaluate how well those components perform and interact to achieve their goals.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Information Gathering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this information gathering phase, I have collected valuable insights and knowledge about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RideSwift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various online resources, including websites, blogs, forums, YouTube tutorials, as well as sought guidance from project guide. This information served as a foundation for the successful development of this project.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SzPct val="128000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8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9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Analysis</a:t>
            </a:r>
          </a:p>
        </p:txBody>
      </p:sp>
      <p:sp>
        <p:nvSpPr>
          <p:cNvPr id="11270" name="TextBox 5"/>
          <p:cNvSpPr txBox="1">
            <a:spLocks noChangeArrowheads="1"/>
          </p:cNvSpPr>
          <p:nvPr/>
        </p:nvSpPr>
        <p:spPr bwMode="auto">
          <a:xfrm>
            <a:off x="381000" y="1676400"/>
            <a:ext cx="77724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System analysis is a problem-solving technique that breaks down a system into its component parts in order to evaluate how well those components perform and interact to achieve their goals.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Process model used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there is a requirement of process model. It defines a process for each phase and check the status of this system. According to the need of proposed system the spiral model is best suited for it.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SzPct val="128000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2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3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Analysis</a:t>
            </a:r>
          </a:p>
        </p:txBody>
      </p:sp>
      <p:sp>
        <p:nvSpPr>
          <p:cNvPr id="12294" name="TextBox 5"/>
          <p:cNvSpPr txBox="1">
            <a:spLocks noChangeArrowheads="1"/>
          </p:cNvSpPr>
          <p:nvPr/>
        </p:nvSpPr>
        <p:spPr bwMode="auto">
          <a:xfrm>
            <a:off x="381000" y="1676400"/>
            <a:ext cx="7772400" cy="144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Process model used</a:t>
            </a:r>
          </a:p>
          <a:p>
            <a:pPr algn="just">
              <a:lnSpc>
                <a:spcPct val="150000"/>
              </a:lnSpc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SzPct val="128000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5" name="Picture 6" descr="software-engineering-spiral-model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2438400"/>
            <a:ext cx="65532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90600"/>
            <a:ext cx="8458200" cy="54102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6" name="TextBox 3"/>
          <p:cNvSpPr txBox="1">
            <a:spLocks noChangeArrowheads="1"/>
          </p:cNvSpPr>
          <p:nvPr/>
        </p:nvSpPr>
        <p:spPr bwMode="auto">
          <a:xfrm>
            <a:off x="3352800" y="6556424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Analysis</a:t>
            </a:r>
          </a:p>
        </p:txBody>
      </p:sp>
      <p:sp>
        <p:nvSpPr>
          <p:cNvPr id="13318" name="TextBox 5"/>
          <p:cNvSpPr txBox="1">
            <a:spLocks noChangeArrowheads="1"/>
          </p:cNvSpPr>
          <p:nvPr/>
        </p:nvSpPr>
        <p:spPr bwMode="auto">
          <a:xfrm>
            <a:off x="381000" y="1676400"/>
            <a:ext cx="7772400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Process chart</a:t>
            </a: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SzPct val="128000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05400" y="2133600"/>
            <a:ext cx="29718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Ride Booking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5400" y="2819400"/>
            <a:ext cx="3048000" cy="3581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81000" y="3048000"/>
            <a:ext cx="24384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User/Captain login/register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" y="3886200"/>
            <a:ext cx="24384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Caption see all rides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1000" y="4648200"/>
            <a:ext cx="24384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Caption confirms booking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000" y="5486400"/>
            <a:ext cx="24384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 does payment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0" y="3048000"/>
            <a:ext cx="213360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Check user availability in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3886200"/>
            <a:ext cx="213360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r>
              <a:rPr lang="en-US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Redirect to user-dashboard to create ride ,search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4648200"/>
            <a:ext cx="213360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Fill details and book Ride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0" y="5486400"/>
            <a:ext cx="213360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Payment gateway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>
            <a:endCxn id="14" idx="1"/>
          </p:cNvCxnSpPr>
          <p:nvPr/>
        </p:nvCxnSpPr>
        <p:spPr>
          <a:xfrm>
            <a:off x="2819400" y="3276600"/>
            <a:ext cx="26670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6210301" y="3695700"/>
            <a:ext cx="381000" cy="31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6249194" y="4495006"/>
            <a:ext cx="3048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6211094" y="5295106"/>
            <a:ext cx="3810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819400" y="3962400"/>
            <a:ext cx="26670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0800000">
            <a:off x="2819400" y="4267200"/>
            <a:ext cx="26670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819400" y="4724400"/>
            <a:ext cx="26670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>
            <a:off x="2819400" y="5029200"/>
            <a:ext cx="26670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rot="10800000">
            <a:off x="2819400" y="5867400"/>
            <a:ext cx="26670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2819400" y="5638800"/>
            <a:ext cx="26670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906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40" name="TextBox 3"/>
          <p:cNvSpPr txBox="1">
            <a:spLocks noChangeArrowheads="1"/>
          </p:cNvSpPr>
          <p:nvPr/>
        </p:nvSpPr>
        <p:spPr bwMode="auto">
          <a:xfrm>
            <a:off x="3352800" y="6556424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41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Analysis</a:t>
            </a:r>
          </a:p>
        </p:txBody>
      </p:sp>
      <p:sp>
        <p:nvSpPr>
          <p:cNvPr id="14342" name="TextBox 5"/>
          <p:cNvSpPr txBox="1">
            <a:spLocks noChangeArrowheads="1"/>
          </p:cNvSpPr>
          <p:nvPr/>
        </p:nvSpPr>
        <p:spPr bwMode="auto">
          <a:xfrm>
            <a:off x="381000" y="1676400"/>
            <a:ext cx="7772400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flow diagram</a:t>
            </a: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 </a:t>
            </a: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                  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View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View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                  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Response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Response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SzPct val="128000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3048000"/>
            <a:ext cx="19812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Captain</a:t>
            </a:r>
          </a:p>
        </p:txBody>
      </p:sp>
      <p:sp>
        <p:nvSpPr>
          <p:cNvPr id="9" name="Oval 8"/>
          <p:cNvSpPr/>
          <p:nvPr/>
        </p:nvSpPr>
        <p:spPr>
          <a:xfrm>
            <a:off x="3429000" y="2895600"/>
            <a:ext cx="2209800" cy="9906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RideSwift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3200" y="3048000"/>
            <a:ext cx="19050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Users</a:t>
            </a:r>
          </a:p>
        </p:txBody>
      </p:sp>
      <p:cxnSp>
        <p:nvCxnSpPr>
          <p:cNvPr id="12" name="Straight Arrow Connector 11"/>
          <p:cNvCxnSpPr>
            <a:stCxn id="10" idx="1"/>
          </p:cNvCxnSpPr>
          <p:nvPr/>
        </p:nvCxnSpPr>
        <p:spPr>
          <a:xfrm rot="10800000">
            <a:off x="5638800" y="3352800"/>
            <a:ext cx="9144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514600" y="3581400"/>
            <a:ext cx="9906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>
            <a:off x="2514600" y="3352800"/>
            <a:ext cx="9144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562600" y="3581400"/>
            <a:ext cx="9906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0" name="TextBox 14"/>
          <p:cNvSpPr txBox="1">
            <a:spLocks noChangeArrowheads="1"/>
          </p:cNvSpPr>
          <p:nvPr/>
        </p:nvSpPr>
        <p:spPr bwMode="auto">
          <a:xfrm>
            <a:off x="2514600" y="5715000"/>
            <a:ext cx="4114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Figure : 0-level DFD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906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4" name="TextBox 3"/>
          <p:cNvSpPr txBox="1">
            <a:spLocks noChangeArrowheads="1"/>
          </p:cNvSpPr>
          <p:nvPr/>
        </p:nvSpPr>
        <p:spPr bwMode="auto">
          <a:xfrm>
            <a:off x="3352800" y="6500153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5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Analysis</a:t>
            </a:r>
          </a:p>
        </p:txBody>
      </p:sp>
      <p:sp>
        <p:nvSpPr>
          <p:cNvPr id="15371" name="TextBox 14"/>
          <p:cNvSpPr txBox="1">
            <a:spLocks noChangeArrowheads="1"/>
          </p:cNvSpPr>
          <p:nvPr/>
        </p:nvSpPr>
        <p:spPr bwMode="auto">
          <a:xfrm>
            <a:off x="2514600" y="5715000"/>
            <a:ext cx="4114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Figure : 1-level DFD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F45C73-E410-4545-9011-9F5669D45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22" y="1772815"/>
            <a:ext cx="7803556" cy="376663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1EF2CA7-3607-4D61-9964-4926DBFDC075}"/>
              </a:ext>
            </a:extLst>
          </p:cNvPr>
          <p:cNvSpPr txBox="1"/>
          <p:nvPr/>
        </p:nvSpPr>
        <p:spPr>
          <a:xfrm>
            <a:off x="1187624" y="145256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flow diagram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906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8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9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Analysis</a:t>
            </a:r>
          </a:p>
        </p:txBody>
      </p:sp>
      <p:sp>
        <p:nvSpPr>
          <p:cNvPr id="16390" name="TextBox 5"/>
          <p:cNvSpPr txBox="1">
            <a:spLocks noChangeArrowheads="1"/>
          </p:cNvSpPr>
          <p:nvPr/>
        </p:nvSpPr>
        <p:spPr bwMode="auto">
          <a:xfrm>
            <a:off x="381000" y="1676400"/>
            <a:ext cx="7772400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flow diagram</a:t>
            </a: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 </a:t>
            </a: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                   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                   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SzPct val="128000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94" name="TextBox 14"/>
          <p:cNvSpPr txBox="1">
            <a:spLocks noChangeArrowheads="1"/>
          </p:cNvSpPr>
          <p:nvPr/>
        </p:nvSpPr>
        <p:spPr bwMode="auto">
          <a:xfrm>
            <a:off x="2362200" y="6172200"/>
            <a:ext cx="4114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Figure : 2-level DFD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BDD170-B4B0-4CB5-99CD-E4E022AE70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05" y="2204864"/>
            <a:ext cx="8194390" cy="38884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906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2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3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Analysis</a:t>
            </a:r>
          </a:p>
        </p:txBody>
      </p:sp>
      <p:sp>
        <p:nvSpPr>
          <p:cNvPr id="17414" name="TextBox 5"/>
          <p:cNvSpPr txBox="1">
            <a:spLocks noChangeArrowheads="1"/>
          </p:cNvSpPr>
          <p:nvPr/>
        </p:nvSpPr>
        <p:spPr bwMode="auto">
          <a:xfrm>
            <a:off x="381000" y="1604963"/>
            <a:ext cx="7772400" cy="572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Dictionary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User login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Name : user login to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Rideswift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system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Description : User creates account an login the app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Input : Email id of  a user and password 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Output : Displays success or error message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Data structure : Data structure used to store the user data.</a:t>
            </a:r>
          </a:p>
          <a:p>
            <a:pPr marL="514350" indent="-514350" algn="just">
              <a:lnSpc>
                <a:spcPct val="150000"/>
              </a:lnSpc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                             Schema-  (_id, email,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password,role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), where _id is primary key.</a:t>
            </a:r>
          </a:p>
          <a:p>
            <a:pPr marL="514350" indent="-514350" algn="just">
              <a:lnSpc>
                <a:spcPct val="150000"/>
              </a:lnSpc>
              <a:defRPr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IN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IN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 </a:t>
            </a:r>
          </a:p>
          <a:p>
            <a:pPr algn="just">
              <a:defRPr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                   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906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6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7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Analysis</a:t>
            </a:r>
          </a:p>
        </p:txBody>
      </p:sp>
      <p:sp>
        <p:nvSpPr>
          <p:cNvPr id="17414" name="TextBox 5"/>
          <p:cNvSpPr txBox="1">
            <a:spLocks noChangeArrowheads="1"/>
          </p:cNvSpPr>
          <p:nvPr/>
        </p:nvSpPr>
        <p:spPr bwMode="auto">
          <a:xfrm>
            <a:off x="381000" y="1676400"/>
            <a:ext cx="7772400" cy="6694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Dictionary</a:t>
            </a:r>
          </a:p>
          <a:p>
            <a:pPr marL="514350" indent="-514350" algn="just">
              <a:lnSpc>
                <a:spcPct val="150000"/>
              </a:lnSpc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ii.      Booking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Name : User ride creation and booking system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Description : User fills out the details to create a ride or book a ride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Input : Enter source, destination, date, and number of passengers.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Output : Redirects to ride matching or captain confirmation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Data structure : Data structure used to store the user data.</a:t>
            </a:r>
          </a:p>
          <a:p>
            <a:pPr marL="514350" indent="-514350" algn="just">
              <a:lnSpc>
                <a:spcPct val="15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       Schema-(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userId,userEmail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source,destination,vehicleType,VehNo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indent="-514350" algn="just">
              <a:lnSpc>
                <a:spcPct val="150000"/>
              </a:lnSpc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where _id is primary key.</a:t>
            </a:r>
          </a:p>
          <a:p>
            <a:pPr marL="514350" indent="-514350" algn="just">
              <a:lnSpc>
                <a:spcPct val="150000"/>
              </a:lnSpc>
              <a:defRPr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IN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IN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 </a:t>
            </a:r>
          </a:p>
          <a:p>
            <a:pPr algn="just">
              <a:defRPr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                   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Resources</a:t>
            </a: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Hardware Requirements :</a:t>
            </a: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4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5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Project Planning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819400"/>
          <a:ext cx="6096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Component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Specification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Processor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Inter 3/Ryzen</a:t>
                      </a:r>
                      <a:r>
                        <a:rPr lang="en-IN" sz="2200" baseline="0" dirty="0">
                          <a:latin typeface="Times New Roman" pitchFamily="18" charset="0"/>
                          <a:cs typeface="Times New Roman" pitchFamily="18" charset="0"/>
                        </a:rPr>
                        <a:t> 3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RAM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4GB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HDD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1TB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SSD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256GB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Resources</a:t>
            </a: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Software Requirements :</a:t>
            </a: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8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9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Project Planning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2590800"/>
          <a:ext cx="6096000" cy="3078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641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Specification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Operating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Windows 10/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11</a:t>
                      </a:r>
                      <a:endParaRPr lang="en-IN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HTML, CSS, JavaScript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MongoDB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Mozila , Firefox, Opera, Chrome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Software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Development Kit</a:t>
                      </a:r>
                      <a:endParaRPr lang="en-IN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VS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Scripting Language Enable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Node.js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IN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Team Organization</a:t>
            </a: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Team organization of the project consist one member.</a:t>
            </a: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2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3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Project Planning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633001"/>
              </p:ext>
            </p:extLst>
          </p:nvPr>
        </p:nvGraphicFramePr>
        <p:xfrm>
          <a:off x="533400" y="2971800"/>
          <a:ext cx="8305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1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r>
                        <a:rPr lang="en-IN" b="1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Contact number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Email id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Deepanshu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itchFamily="18" charset="0"/>
                          <a:cs typeface="Times New Roman" pitchFamily="18" charset="0"/>
                        </a:rPr>
                        <a:t>Rathore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9755514428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deepanshurathore975@gmail.com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Schedule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9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0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Project Planning</a:t>
            </a:r>
          </a:p>
        </p:txBody>
      </p:sp>
      <p:graphicFrame>
        <p:nvGraphicFramePr>
          <p:cNvPr id="1026" name="Chart 6"/>
          <p:cNvGraphicFramePr>
            <a:graphicFrameLocks/>
          </p:cNvGraphicFramePr>
          <p:nvPr/>
        </p:nvGraphicFramePr>
        <p:xfrm>
          <a:off x="1371600" y="21336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r:id="rId4" imgW="6096528" imgH="4066384" progId="Excel.Sheet.8">
                  <p:embed/>
                </p:oleObj>
              </mc:Choice>
              <mc:Fallback>
                <p:oleObj r:id="rId4" imgW="6096528" imgH="4066384" progId="Excel.Sheet.8">
                  <p:embed/>
                  <p:pic>
                    <p:nvPicPr>
                      <p:cNvPr id="0" name="Char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133600"/>
                        <a:ext cx="60960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Design methodology</a:t>
            </a:r>
          </a:p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UML </a:t>
            </a:r>
          </a:p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a. Use Case Diagram</a:t>
            </a:r>
          </a:p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b. Activity Diagram</a:t>
            </a:r>
          </a:p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c. Class Diagram</a:t>
            </a:r>
          </a:p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d. Sequence Diagram</a:t>
            </a: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7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Design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55588" y="-12065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19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2971800" y="533400"/>
            <a:ext cx="3200400" cy="57594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3733800" y="609600"/>
            <a:ext cx="1600200" cy="533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3733800" y="1371600"/>
            <a:ext cx="16002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details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3733800" y="2057400"/>
            <a:ext cx="16002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Ride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3733800" y="2743200"/>
            <a:ext cx="16002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Ride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3733800" y="3429000"/>
            <a:ext cx="16002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Ride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3810000" y="4191000"/>
            <a:ext cx="16002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3810000" y="5638800"/>
            <a:ext cx="16002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838200" y="2452688"/>
            <a:ext cx="381000" cy="36671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6" name="Straight Connector 145"/>
          <p:cNvCxnSpPr>
            <a:stCxn id="145" idx="4"/>
          </p:cNvCxnSpPr>
          <p:nvPr/>
        </p:nvCxnSpPr>
        <p:spPr>
          <a:xfrm>
            <a:off x="1028700" y="2819400"/>
            <a:ext cx="0" cy="3746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 flipH="1">
            <a:off x="685800" y="3194050"/>
            <a:ext cx="342900" cy="3667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>
            <a:off x="1028700" y="3194050"/>
            <a:ext cx="342900" cy="3667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>
            <a:off x="685800" y="2927350"/>
            <a:ext cx="685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>
            <a:off x="7870825" y="1939925"/>
            <a:ext cx="381000" cy="36671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1" name="Straight Connector 150"/>
          <p:cNvCxnSpPr/>
          <p:nvPr/>
        </p:nvCxnSpPr>
        <p:spPr>
          <a:xfrm>
            <a:off x="7718425" y="2493963"/>
            <a:ext cx="685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>
            <a:off x="8061325" y="2306638"/>
            <a:ext cx="0" cy="3746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 flipH="1">
            <a:off x="7718425" y="2681288"/>
            <a:ext cx="342900" cy="366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8061325" y="2681288"/>
            <a:ext cx="342900" cy="366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 rot="5400000" flipH="1" flipV="1">
            <a:off x="1504950" y="895350"/>
            <a:ext cx="2247900" cy="2209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>
            <a:endCxn id="138" idx="2"/>
          </p:cNvCxnSpPr>
          <p:nvPr/>
        </p:nvCxnSpPr>
        <p:spPr>
          <a:xfrm flipV="1">
            <a:off x="1447800" y="1638300"/>
            <a:ext cx="2286000" cy="14859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>
            <a:endCxn id="139" idx="2"/>
          </p:cNvCxnSpPr>
          <p:nvPr/>
        </p:nvCxnSpPr>
        <p:spPr>
          <a:xfrm flipV="1">
            <a:off x="1447800" y="2324100"/>
            <a:ext cx="2286000" cy="800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endCxn id="140" idx="2"/>
          </p:cNvCxnSpPr>
          <p:nvPr/>
        </p:nvCxnSpPr>
        <p:spPr>
          <a:xfrm flipV="1">
            <a:off x="1447800" y="3009900"/>
            <a:ext cx="2286000" cy="114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>
            <a:endCxn id="142" idx="2"/>
          </p:cNvCxnSpPr>
          <p:nvPr/>
        </p:nvCxnSpPr>
        <p:spPr>
          <a:xfrm>
            <a:off x="1443038" y="3182938"/>
            <a:ext cx="2366962" cy="12747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>
            <a:endCxn id="144" idx="2"/>
          </p:cNvCxnSpPr>
          <p:nvPr/>
        </p:nvCxnSpPr>
        <p:spPr>
          <a:xfrm rot="16200000" flipH="1">
            <a:off x="1265238" y="3360738"/>
            <a:ext cx="2722562" cy="23669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>
            <a:stCxn id="137" idx="6"/>
          </p:cNvCxnSpPr>
          <p:nvPr/>
        </p:nvCxnSpPr>
        <p:spPr>
          <a:xfrm>
            <a:off x="5334000" y="876300"/>
            <a:ext cx="2209800" cy="15763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>
            <a:endCxn id="141" idx="6"/>
          </p:cNvCxnSpPr>
          <p:nvPr/>
        </p:nvCxnSpPr>
        <p:spPr>
          <a:xfrm rot="10800000" flipV="1">
            <a:off x="5334000" y="2452688"/>
            <a:ext cx="2193925" cy="12430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>
            <a:endCxn id="144" idx="6"/>
          </p:cNvCxnSpPr>
          <p:nvPr/>
        </p:nvCxnSpPr>
        <p:spPr>
          <a:xfrm rot="5400000">
            <a:off x="4742657" y="3120231"/>
            <a:ext cx="3452812" cy="2117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47" name="TextBox 81"/>
          <p:cNvSpPr txBox="1">
            <a:spLocks noChangeArrowheads="1"/>
          </p:cNvSpPr>
          <p:nvPr/>
        </p:nvSpPr>
        <p:spPr bwMode="auto">
          <a:xfrm>
            <a:off x="609600" y="3733800"/>
            <a:ext cx="620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User</a:t>
            </a:r>
            <a:endParaRPr lang="en-I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48" name="TextBox 82"/>
          <p:cNvSpPr txBox="1">
            <a:spLocks noChangeArrowheads="1"/>
          </p:cNvSpPr>
          <p:nvPr/>
        </p:nvSpPr>
        <p:spPr bwMode="auto">
          <a:xfrm>
            <a:off x="7669213" y="2976563"/>
            <a:ext cx="8397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Admin</a:t>
            </a:r>
            <a:endParaRPr lang="en-I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49" name="TextBox 3"/>
          <p:cNvSpPr txBox="1">
            <a:spLocks noChangeArrowheads="1"/>
          </p:cNvSpPr>
          <p:nvPr/>
        </p:nvSpPr>
        <p:spPr bwMode="auto">
          <a:xfrm>
            <a:off x="304800" y="381000"/>
            <a:ext cx="2613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N" altLang="en-US" sz="2400" b="1" dirty="0">
                <a:latin typeface="Times New Roman" pitchFamily="18" charset="0"/>
                <a:cs typeface="Times New Roman" pitchFamily="18" charset="0"/>
              </a:rPr>
              <a:t>Use Case Diagram</a:t>
            </a:r>
            <a:endParaRPr lang="en-IN" altLang="en-US" sz="2400" b="1" dirty="0"/>
          </a:p>
        </p:txBody>
      </p:sp>
      <p:sp>
        <p:nvSpPr>
          <p:cNvPr id="195" name="Oval 194"/>
          <p:cNvSpPr/>
          <p:nvPr/>
        </p:nvSpPr>
        <p:spPr>
          <a:xfrm>
            <a:off x="3810000" y="4953000"/>
            <a:ext cx="16002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Ride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6" name="Straight Connector 195"/>
          <p:cNvCxnSpPr>
            <a:endCxn id="195" idx="6"/>
          </p:cNvCxnSpPr>
          <p:nvPr/>
        </p:nvCxnSpPr>
        <p:spPr>
          <a:xfrm rot="5400000">
            <a:off x="5086350" y="2838450"/>
            <a:ext cx="2705100" cy="2057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10800000" flipV="1">
            <a:off x="5410200" y="2514600"/>
            <a:ext cx="2057400" cy="19288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3" name="Subtitle 2"/>
          <p:cNvSpPr>
            <a:spLocks noGrp="1"/>
          </p:cNvSpPr>
          <p:nvPr>
            <p:ph type="subTitle" idx="1"/>
          </p:nvPr>
        </p:nvSpPr>
        <p:spPr>
          <a:xfrm>
            <a:off x="381000" y="685800"/>
            <a:ext cx="8458200" cy="5791200"/>
          </a:xfrm>
        </p:spPr>
        <p:txBody>
          <a:bodyPr/>
          <a:lstStyle/>
          <a:p>
            <a:pPr marL="742950" indent="-742950" algn="l" eaLnBrk="1" hangingPunct="1"/>
            <a:r>
              <a:rPr lang="en-IN" alt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 Diagram</a:t>
            </a:r>
          </a:p>
          <a:p>
            <a:pPr marL="742950" indent="-742950" algn="l" eaLnBrk="1" hangingPunct="1"/>
            <a:endParaRPr lang="en-IN" alt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hangingPunct="1"/>
            <a:endParaRPr lang="en-IN" alt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hangingPunct="1"/>
            <a:endParaRPr lang="en-IN" alt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hangingPunct="1"/>
            <a:endParaRPr lang="en-IN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r>
              <a:rPr lang="en-IN" alt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endParaRPr lang="en-IN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US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4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3505200" y="762000"/>
            <a:ext cx="457200" cy="381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/>
          </a:p>
        </p:txBody>
      </p:sp>
      <p:cxnSp>
        <p:nvCxnSpPr>
          <p:cNvPr id="37" name="Straight Arrow Connector 36"/>
          <p:cNvCxnSpPr>
            <a:stCxn id="36" idx="4"/>
          </p:cNvCxnSpPr>
          <p:nvPr/>
        </p:nvCxnSpPr>
        <p:spPr>
          <a:xfrm>
            <a:off x="3733800" y="114300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537469" y="1434905"/>
            <a:ext cx="1537692" cy="3748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Visit website</a:t>
            </a:r>
            <a:endParaRPr lang="en-IN" sz="16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4076700" y="1622327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422736" y="1433416"/>
            <a:ext cx="1366911" cy="4191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Browse route</a:t>
            </a:r>
            <a:endParaRPr lang="en-IN" sz="1600" dirty="0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789647" y="1642966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132547" y="1390650"/>
            <a:ext cx="2110247" cy="4191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Select destination</a:t>
            </a:r>
            <a:endParaRPr lang="en-IN" dirty="0"/>
          </a:p>
        </p:txBody>
      </p:sp>
      <p:cxnSp>
        <p:nvCxnSpPr>
          <p:cNvPr id="43" name="Elbow Connector 42"/>
          <p:cNvCxnSpPr>
            <a:stCxn id="42" idx="3"/>
          </p:cNvCxnSpPr>
          <p:nvPr/>
        </p:nvCxnSpPr>
        <p:spPr>
          <a:xfrm flipH="1">
            <a:off x="6703988" y="1600200"/>
            <a:ext cx="1538806" cy="679450"/>
          </a:xfrm>
          <a:prstGeom prst="bentConnector3">
            <a:avLst>
              <a:gd name="adj1" fmla="val -148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372100" y="2079625"/>
            <a:ext cx="1295400" cy="4191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Select vehicle</a:t>
            </a:r>
            <a:endParaRPr lang="en-IN" sz="1400" dirty="0"/>
          </a:p>
        </p:txBody>
      </p:sp>
      <p:cxnSp>
        <p:nvCxnSpPr>
          <p:cNvPr id="47" name="Straight Arrow Connector 46"/>
          <p:cNvCxnSpPr>
            <a:stCxn id="44" idx="1"/>
          </p:cNvCxnSpPr>
          <p:nvPr/>
        </p:nvCxnSpPr>
        <p:spPr>
          <a:xfrm flipH="1" flipV="1">
            <a:off x="5029200" y="2286000"/>
            <a:ext cx="342900" cy="3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695700" y="2079625"/>
            <a:ext cx="1295400" cy="4191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Create Ride</a:t>
            </a:r>
            <a:endParaRPr lang="en-IN" sz="1600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3962400" y="2498725"/>
            <a:ext cx="419100" cy="625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411663" y="2514600"/>
            <a:ext cx="788987" cy="86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Flowchart: Decision 50"/>
          <p:cNvSpPr/>
          <p:nvPr/>
        </p:nvSpPr>
        <p:spPr>
          <a:xfrm>
            <a:off x="3467100" y="3132138"/>
            <a:ext cx="990600" cy="100171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Login ?</a:t>
            </a:r>
            <a:endParaRPr lang="en-IN" sz="1600" dirty="0"/>
          </a:p>
        </p:txBody>
      </p:sp>
      <p:sp>
        <p:nvSpPr>
          <p:cNvPr id="58" name="Rounded Rectangle 57"/>
          <p:cNvSpPr/>
          <p:nvPr/>
        </p:nvSpPr>
        <p:spPr>
          <a:xfrm>
            <a:off x="4991100" y="3422650"/>
            <a:ext cx="1847850" cy="4191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Waiting for accept</a:t>
            </a:r>
            <a:endParaRPr lang="en-IN" sz="1400" dirty="0"/>
          </a:p>
        </p:txBody>
      </p:sp>
      <p:cxnSp>
        <p:nvCxnSpPr>
          <p:cNvPr id="59" name="Straight Arrow Connector 58"/>
          <p:cNvCxnSpPr>
            <a:endCxn id="58" idx="1"/>
          </p:cNvCxnSpPr>
          <p:nvPr/>
        </p:nvCxnSpPr>
        <p:spPr>
          <a:xfrm>
            <a:off x="4457700" y="36322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1" idx="2"/>
          </p:cNvCxnSpPr>
          <p:nvPr/>
        </p:nvCxnSpPr>
        <p:spPr>
          <a:xfrm>
            <a:off x="3962400" y="4133850"/>
            <a:ext cx="0" cy="285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467100" y="4438650"/>
            <a:ext cx="1295400" cy="4191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login</a:t>
            </a:r>
            <a:endParaRPr lang="en-IN" sz="1600" dirty="0"/>
          </a:p>
        </p:txBody>
      </p:sp>
      <p:cxnSp>
        <p:nvCxnSpPr>
          <p:cNvPr id="63" name="Elbow Connector 62"/>
          <p:cNvCxnSpPr/>
          <p:nvPr/>
        </p:nvCxnSpPr>
        <p:spPr>
          <a:xfrm rot="5400000" flipH="1" flipV="1">
            <a:off x="4572000" y="3810000"/>
            <a:ext cx="609600" cy="6096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5915025" y="3841750"/>
            <a:ext cx="11111" cy="442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067300" y="4403725"/>
            <a:ext cx="1295400" cy="4191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Captain Accept</a:t>
            </a:r>
            <a:endParaRPr lang="en-IN" sz="1400" dirty="0"/>
          </a:p>
        </p:txBody>
      </p:sp>
      <p:cxnSp>
        <p:nvCxnSpPr>
          <p:cNvPr id="68" name="Straight Arrow Connector 67"/>
          <p:cNvCxnSpPr>
            <a:stCxn id="66" idx="3"/>
          </p:cNvCxnSpPr>
          <p:nvPr/>
        </p:nvCxnSpPr>
        <p:spPr>
          <a:xfrm>
            <a:off x="6362700" y="4613275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858000" y="4460875"/>
            <a:ext cx="1752600" cy="4191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User Receive response </a:t>
            </a:r>
            <a:endParaRPr lang="en-IN" sz="1400" dirty="0"/>
          </a:p>
        </p:txBody>
      </p:sp>
      <p:cxnSp>
        <p:nvCxnSpPr>
          <p:cNvPr id="71" name="Elbow Connector 72"/>
          <p:cNvCxnSpPr>
            <a:stCxn id="69" idx="2"/>
          </p:cNvCxnSpPr>
          <p:nvPr/>
        </p:nvCxnSpPr>
        <p:spPr>
          <a:xfrm rot="5400000">
            <a:off x="6992937" y="4745038"/>
            <a:ext cx="606425" cy="876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5543550" y="5267325"/>
            <a:ext cx="1295400" cy="4191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Confirm booking</a:t>
            </a:r>
            <a:endParaRPr lang="en-IN" sz="1400" dirty="0"/>
          </a:p>
        </p:txBody>
      </p:sp>
      <p:sp>
        <p:nvSpPr>
          <p:cNvPr id="77" name="Oval 76"/>
          <p:cNvSpPr/>
          <p:nvPr/>
        </p:nvSpPr>
        <p:spPr>
          <a:xfrm>
            <a:off x="4343400" y="5334000"/>
            <a:ext cx="685800" cy="4905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/>
          </a:p>
        </p:txBody>
      </p:sp>
      <p:sp>
        <p:nvSpPr>
          <p:cNvPr id="78" name="Oval 77"/>
          <p:cNvSpPr/>
          <p:nvPr/>
        </p:nvSpPr>
        <p:spPr>
          <a:xfrm>
            <a:off x="4495800" y="5410200"/>
            <a:ext cx="457200" cy="3048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/>
          </a:p>
        </p:txBody>
      </p:sp>
      <p:sp>
        <p:nvSpPr>
          <p:cNvPr id="10272" name="TextBox 35"/>
          <p:cNvSpPr txBox="1">
            <a:spLocks noChangeArrowheads="1"/>
          </p:cNvSpPr>
          <p:nvPr/>
        </p:nvSpPr>
        <p:spPr bwMode="auto">
          <a:xfrm>
            <a:off x="3429000" y="4114800"/>
            <a:ext cx="4460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dirty="0"/>
              <a:t>No</a:t>
            </a:r>
          </a:p>
        </p:txBody>
      </p:sp>
      <p:sp>
        <p:nvSpPr>
          <p:cNvPr id="10273" name="TextBox 39"/>
          <p:cNvSpPr txBox="1">
            <a:spLocks noChangeArrowheads="1"/>
          </p:cNvSpPr>
          <p:nvPr/>
        </p:nvSpPr>
        <p:spPr bwMode="auto">
          <a:xfrm>
            <a:off x="4419600" y="3200400"/>
            <a:ext cx="5445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dirty="0"/>
              <a:t>yes</a:t>
            </a:r>
          </a:p>
        </p:txBody>
      </p:sp>
      <p:cxnSp>
        <p:nvCxnSpPr>
          <p:cNvPr id="84" name="Straight Arrow Connector 83"/>
          <p:cNvCxnSpPr/>
          <p:nvPr/>
        </p:nvCxnSpPr>
        <p:spPr>
          <a:xfrm rot="10800000">
            <a:off x="5029200" y="54864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algn="l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8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9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81200"/>
            <a:ext cx="1447800" cy="1676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71" name="TextBox 8"/>
          <p:cNvSpPr txBox="1">
            <a:spLocks noChangeArrowheads="1"/>
          </p:cNvSpPr>
          <p:nvPr/>
        </p:nvSpPr>
        <p:spPr bwMode="auto">
          <a:xfrm>
            <a:off x="762000" y="1981200"/>
            <a:ext cx="1295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User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685800" y="2286000"/>
            <a:ext cx="1447800" cy="158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73" name="TextBox 11"/>
          <p:cNvSpPr txBox="1">
            <a:spLocks noChangeArrowheads="1"/>
          </p:cNvSpPr>
          <p:nvPr/>
        </p:nvSpPr>
        <p:spPr bwMode="auto">
          <a:xfrm>
            <a:off x="762000" y="2286000"/>
            <a:ext cx="13716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+Id 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+username 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+password: String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685800" y="2971800"/>
            <a:ext cx="1447800" cy="158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75" name="TextBox 13"/>
          <p:cNvSpPr txBox="1">
            <a:spLocks noChangeArrowheads="1"/>
          </p:cNvSpPr>
          <p:nvPr/>
        </p:nvSpPr>
        <p:spPr bwMode="auto">
          <a:xfrm>
            <a:off x="762000" y="2971800"/>
            <a:ext cx="1295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+Login()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+Logout()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+Register()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5200" y="1981200"/>
            <a:ext cx="1447800" cy="1676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77" name="TextBox 15"/>
          <p:cNvSpPr txBox="1">
            <a:spLocks noChangeArrowheads="1"/>
          </p:cNvSpPr>
          <p:nvPr/>
        </p:nvSpPr>
        <p:spPr bwMode="auto">
          <a:xfrm>
            <a:off x="3581400" y="1981200"/>
            <a:ext cx="1295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Ride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3505200" y="2286000"/>
            <a:ext cx="1447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79" name="TextBox 21"/>
          <p:cNvSpPr txBox="1">
            <a:spLocks noChangeArrowheads="1"/>
          </p:cNvSpPr>
          <p:nvPr/>
        </p:nvSpPr>
        <p:spPr bwMode="auto">
          <a:xfrm>
            <a:off x="3505200" y="2286000"/>
            <a:ext cx="14478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+Id 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+title: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+city: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+address: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+price: Number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3505200" y="3276600"/>
            <a:ext cx="1447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81" name="TextBox 24"/>
          <p:cNvSpPr txBox="1">
            <a:spLocks noChangeArrowheads="1"/>
          </p:cNvSpPr>
          <p:nvPr/>
        </p:nvSpPr>
        <p:spPr bwMode="auto">
          <a:xfrm>
            <a:off x="3581400" y="3276600"/>
            <a:ext cx="12954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SearchRide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19800" y="1981200"/>
            <a:ext cx="1447800" cy="1752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83" name="TextBox 26"/>
          <p:cNvSpPr txBox="1">
            <a:spLocks noChangeArrowheads="1"/>
          </p:cNvSpPr>
          <p:nvPr/>
        </p:nvSpPr>
        <p:spPr bwMode="auto">
          <a:xfrm>
            <a:off x="6096000" y="1981200"/>
            <a:ext cx="1295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Booking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84" name="TextBox 27"/>
          <p:cNvSpPr txBox="1">
            <a:spLocks noChangeArrowheads="1"/>
          </p:cNvSpPr>
          <p:nvPr/>
        </p:nvSpPr>
        <p:spPr bwMode="auto">
          <a:xfrm>
            <a:off x="6019800" y="2286000"/>
            <a:ext cx="1447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+Id 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+userEmail: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+tourName: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+fullName: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+phone: Number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+guestSize: Number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6019800" y="2286000"/>
            <a:ext cx="1447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019800" y="3429000"/>
            <a:ext cx="1447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87" name="TextBox 33"/>
          <p:cNvSpPr txBox="1">
            <a:spLocks noChangeArrowheads="1"/>
          </p:cNvSpPr>
          <p:nvPr/>
        </p:nvSpPr>
        <p:spPr bwMode="auto">
          <a:xfrm>
            <a:off x="6096000" y="3429000"/>
            <a:ext cx="12954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createRide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1200" y="4419600"/>
            <a:ext cx="1447800" cy="1676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89" name="TextBox 35"/>
          <p:cNvSpPr txBox="1">
            <a:spLocks noChangeArrowheads="1"/>
          </p:cNvSpPr>
          <p:nvPr/>
        </p:nvSpPr>
        <p:spPr bwMode="auto">
          <a:xfrm>
            <a:off x="2057400" y="4419600"/>
            <a:ext cx="1295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Payment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1981200" y="4724400"/>
            <a:ext cx="1447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981200" y="4724400"/>
            <a:ext cx="1447800" cy="76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+Id : String</a:t>
            </a:r>
          </a:p>
          <a:p>
            <a:pPr>
              <a:defRPr/>
            </a:pP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+cardNumber: Number</a:t>
            </a:r>
          </a:p>
          <a:p>
            <a:pPr>
              <a:defRPr/>
            </a:pP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+cvv :String</a:t>
            </a:r>
          </a:p>
          <a:p>
            <a:pPr>
              <a:defRPr/>
            </a:pP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+payDate: Date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1981200" y="5562600"/>
            <a:ext cx="1447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93" name="TextBox 41"/>
          <p:cNvSpPr txBox="1">
            <a:spLocks noChangeArrowheads="1"/>
          </p:cNvSpPr>
          <p:nvPr/>
        </p:nvSpPr>
        <p:spPr bwMode="auto">
          <a:xfrm>
            <a:off x="2057400" y="5638800"/>
            <a:ext cx="12954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+PayMethod()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4419600"/>
            <a:ext cx="1447800" cy="1676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95" name="TextBox 43"/>
          <p:cNvSpPr txBox="1">
            <a:spLocks noChangeArrowheads="1"/>
          </p:cNvSpPr>
          <p:nvPr/>
        </p:nvSpPr>
        <p:spPr bwMode="auto">
          <a:xfrm>
            <a:off x="5105400" y="4419600"/>
            <a:ext cx="1295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Review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5029200" y="4724400"/>
            <a:ext cx="1447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97" name="TextBox 45"/>
          <p:cNvSpPr txBox="1">
            <a:spLocks noChangeArrowheads="1"/>
          </p:cNvSpPr>
          <p:nvPr/>
        </p:nvSpPr>
        <p:spPr bwMode="auto">
          <a:xfrm>
            <a:off x="5029200" y="4724400"/>
            <a:ext cx="1447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+Id 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+username: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+reviewText: String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+rating: Number</a:t>
            </a:r>
          </a:p>
        </p:txBody>
      </p:sp>
      <p:sp>
        <p:nvSpPr>
          <p:cNvPr id="11298" name="TextBox 46"/>
          <p:cNvSpPr txBox="1">
            <a:spLocks noChangeArrowheads="1"/>
          </p:cNvSpPr>
          <p:nvPr/>
        </p:nvSpPr>
        <p:spPr bwMode="auto">
          <a:xfrm>
            <a:off x="5105400" y="5715000"/>
            <a:ext cx="12954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+reviewTour()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5029200" y="5638800"/>
            <a:ext cx="1447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133600" y="24384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hape 45"/>
          <p:cNvCxnSpPr>
            <a:endCxn id="26" idx="2"/>
          </p:cNvCxnSpPr>
          <p:nvPr/>
        </p:nvCxnSpPr>
        <p:spPr>
          <a:xfrm>
            <a:off x="2133600" y="3276600"/>
            <a:ext cx="4610100" cy="457200"/>
          </a:xfrm>
          <a:prstGeom prst="bentConnector4">
            <a:avLst>
              <a:gd name="adj1" fmla="val 21161"/>
              <a:gd name="adj2" fmla="val 1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6" idx="2"/>
            <a:endCxn id="11295" idx="0"/>
          </p:cNvCxnSpPr>
          <p:nvPr/>
        </p:nvCxnSpPr>
        <p:spPr>
          <a:xfrm rot="16200000" flipH="1">
            <a:off x="3200400" y="1866900"/>
            <a:ext cx="762000" cy="4343400"/>
          </a:xfrm>
          <a:prstGeom prst="bentConnector3">
            <a:avLst>
              <a:gd name="adj1" fmla="val 62558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hape 57"/>
          <p:cNvCxnSpPr>
            <a:endCxn id="39" idx="1"/>
          </p:cNvCxnSpPr>
          <p:nvPr/>
        </p:nvCxnSpPr>
        <p:spPr>
          <a:xfrm rot="16200000" flipH="1">
            <a:off x="685800" y="3810000"/>
            <a:ext cx="1447800" cy="11430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12291" name="Subtitle 2"/>
          <p:cNvSpPr>
            <a:spLocks noGrp="1"/>
          </p:cNvSpPr>
          <p:nvPr>
            <p:ph type="subTitle" idx="1"/>
          </p:nvPr>
        </p:nvSpPr>
        <p:spPr>
          <a:xfrm>
            <a:off x="381000" y="990600"/>
            <a:ext cx="8458200" cy="5562600"/>
          </a:xfrm>
        </p:spPr>
        <p:txBody>
          <a:bodyPr/>
          <a:lstStyle/>
          <a:p>
            <a:pPr marL="742950" indent="-742950" algn="l" eaLnBrk="1" hangingPunct="1"/>
            <a:endParaRPr lang="en-US" sz="3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hangingPunct="1"/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Sequence Diagram</a:t>
            </a:r>
          </a:p>
          <a:p>
            <a:pPr marL="742950" indent="-742950" algn="l" eaLnBrk="1" hangingPunct="1"/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hangingPunct="1"/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hangingPunct="1"/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2" name="TextBox 3"/>
          <p:cNvSpPr txBox="1">
            <a:spLocks noChangeArrowheads="1"/>
          </p:cNvSpPr>
          <p:nvPr/>
        </p:nvSpPr>
        <p:spPr bwMode="auto">
          <a:xfrm>
            <a:off x="3352800" y="6503987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3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Design</a:t>
            </a:r>
          </a:p>
        </p:txBody>
      </p:sp>
      <p:sp>
        <p:nvSpPr>
          <p:cNvPr id="6" name="Oval 5"/>
          <p:cNvSpPr/>
          <p:nvPr/>
        </p:nvSpPr>
        <p:spPr>
          <a:xfrm>
            <a:off x="533400" y="2133600"/>
            <a:ext cx="457200" cy="228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>
            <a:off x="648494" y="2475706"/>
            <a:ext cx="2286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33400" y="2667000"/>
            <a:ext cx="4572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611188" y="2741612"/>
            <a:ext cx="304800" cy="3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 flipV="1">
            <a:off x="457200" y="2895600"/>
            <a:ext cx="30480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62000" y="2895600"/>
            <a:ext cx="30480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-914399" y="4800600"/>
            <a:ext cx="3352800" cy="3175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752600" y="2362200"/>
            <a:ext cx="12954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 Ride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>
            <a:off x="495301" y="4610100"/>
            <a:ext cx="3733800" cy="3175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581400" y="2362200"/>
            <a:ext cx="12954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1200" dirty="0"/>
              <a:t> Ride Description</a:t>
            </a:r>
          </a:p>
        </p:txBody>
      </p:sp>
      <p:cxnSp>
        <p:nvCxnSpPr>
          <p:cNvPr id="22" name="Straight Connector 21"/>
          <p:cNvCxnSpPr/>
          <p:nvPr/>
        </p:nvCxnSpPr>
        <p:spPr>
          <a:xfrm rot="5400000">
            <a:off x="2324894" y="4609306"/>
            <a:ext cx="3733800" cy="158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81600" y="2362200"/>
            <a:ext cx="12954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 Book Ride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4200" y="2362200"/>
            <a:ext cx="12954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Payment</a:t>
            </a:r>
          </a:p>
        </p:txBody>
      </p:sp>
      <p:cxnSp>
        <p:nvCxnSpPr>
          <p:cNvPr id="25" name="Straight Connector 24"/>
          <p:cNvCxnSpPr/>
          <p:nvPr/>
        </p:nvCxnSpPr>
        <p:spPr>
          <a:xfrm rot="5400000">
            <a:off x="3925094" y="4609306"/>
            <a:ext cx="3733800" cy="1588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5753894" y="4609306"/>
            <a:ext cx="3733800" cy="1588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62000" y="3352800"/>
            <a:ext cx="1600200" cy="1588"/>
          </a:xfrm>
          <a:prstGeom prst="straightConnector1">
            <a:avLst/>
          </a:prstGeom>
          <a:ln w="28575">
            <a:prstDash val="soli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10" name="TextBox 30"/>
          <p:cNvSpPr txBox="1">
            <a:spLocks noChangeArrowheads="1"/>
          </p:cNvSpPr>
          <p:nvPr/>
        </p:nvSpPr>
        <p:spPr bwMode="auto">
          <a:xfrm>
            <a:off x="1143000" y="3048000"/>
            <a:ext cx="990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dirty="0"/>
              <a:t>Search</a:t>
            </a:r>
            <a:endParaRPr 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362200" y="3733800"/>
            <a:ext cx="1828800" cy="1588"/>
          </a:xfrm>
          <a:prstGeom prst="straightConnector1">
            <a:avLst/>
          </a:prstGeom>
          <a:ln w="28575">
            <a:prstDash val="soli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12" name="TextBox 33"/>
          <p:cNvSpPr txBox="1">
            <a:spLocks noChangeArrowheads="1"/>
          </p:cNvSpPr>
          <p:nvPr/>
        </p:nvSpPr>
        <p:spPr bwMode="auto">
          <a:xfrm>
            <a:off x="2517117" y="3429000"/>
            <a:ext cx="1447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dirty="0"/>
              <a:t>Select Ride</a:t>
            </a:r>
            <a:endParaRPr lang="en-US" dirty="0"/>
          </a:p>
        </p:txBody>
      </p:sp>
      <p:cxnSp>
        <p:nvCxnSpPr>
          <p:cNvPr id="36" name="Straight Arrow Connector 35"/>
          <p:cNvCxnSpPr/>
          <p:nvPr/>
        </p:nvCxnSpPr>
        <p:spPr>
          <a:xfrm rot="10800000">
            <a:off x="762000" y="4343400"/>
            <a:ext cx="3429000" cy="158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14" name="TextBox 36"/>
          <p:cNvSpPr txBox="1">
            <a:spLocks noChangeArrowheads="1"/>
          </p:cNvSpPr>
          <p:nvPr/>
        </p:nvSpPr>
        <p:spPr bwMode="auto">
          <a:xfrm>
            <a:off x="838200" y="3962400"/>
            <a:ext cx="1447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dirty="0"/>
              <a:t>Read description</a:t>
            </a:r>
            <a:endParaRPr lang="en-US" dirty="0"/>
          </a:p>
        </p:txBody>
      </p:sp>
      <p:sp>
        <p:nvSpPr>
          <p:cNvPr id="12315" name="TextBox 41"/>
          <p:cNvSpPr txBox="1">
            <a:spLocks noChangeArrowheads="1"/>
          </p:cNvSpPr>
          <p:nvPr/>
        </p:nvSpPr>
        <p:spPr bwMode="auto">
          <a:xfrm>
            <a:off x="4267200" y="4648200"/>
            <a:ext cx="1447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dirty="0"/>
              <a:t>fillup  detail</a:t>
            </a:r>
            <a:endParaRPr lang="en-US" dirty="0"/>
          </a:p>
        </p:txBody>
      </p:sp>
      <p:sp>
        <p:nvSpPr>
          <p:cNvPr id="12316" name="TextBox 44"/>
          <p:cNvSpPr txBox="1">
            <a:spLocks noChangeArrowheads="1"/>
          </p:cNvSpPr>
          <p:nvPr/>
        </p:nvSpPr>
        <p:spPr bwMode="auto">
          <a:xfrm>
            <a:off x="838200" y="5105400"/>
            <a:ext cx="1447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dirty="0"/>
              <a:t>Confirm booking</a:t>
            </a:r>
            <a:endParaRPr lang="en-US" dirty="0"/>
          </a:p>
        </p:txBody>
      </p:sp>
      <p:cxnSp>
        <p:nvCxnSpPr>
          <p:cNvPr id="35" name="Straight Arrow Connector 34"/>
          <p:cNvCxnSpPr/>
          <p:nvPr/>
        </p:nvCxnSpPr>
        <p:spPr>
          <a:xfrm rot="10800000">
            <a:off x="762000" y="5410200"/>
            <a:ext cx="5029200" cy="158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62000" y="5943600"/>
            <a:ext cx="6858000" cy="158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9" name="TextBox 44"/>
          <p:cNvSpPr txBox="1">
            <a:spLocks noChangeArrowheads="1"/>
          </p:cNvSpPr>
          <p:nvPr/>
        </p:nvSpPr>
        <p:spPr bwMode="auto">
          <a:xfrm>
            <a:off x="838200" y="5638800"/>
            <a:ext cx="1447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dirty="0"/>
              <a:t>Pay</a:t>
            </a:r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 rot="5400000">
            <a:off x="266701" y="3848100"/>
            <a:ext cx="990600" cy="3175"/>
          </a:xfrm>
          <a:prstGeom prst="line">
            <a:avLst/>
          </a:prstGeom>
          <a:ln w="95504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>
            <a:off x="1867694" y="3847306"/>
            <a:ext cx="990600" cy="1588"/>
          </a:xfrm>
          <a:prstGeom prst="line">
            <a:avLst/>
          </a:prstGeom>
          <a:ln w="95504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3848894" y="3999706"/>
            <a:ext cx="685800" cy="1588"/>
          </a:xfrm>
          <a:prstGeom prst="line">
            <a:avLst/>
          </a:prstGeom>
          <a:ln w="95504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762000" y="4953000"/>
            <a:ext cx="5029200" cy="1588"/>
          </a:xfrm>
          <a:prstGeom prst="straightConnector1">
            <a:avLst/>
          </a:prstGeom>
          <a:ln w="28575">
            <a:prstDash val="soli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>
            <a:off x="419894" y="5218906"/>
            <a:ext cx="685800" cy="1588"/>
          </a:xfrm>
          <a:prstGeom prst="line">
            <a:avLst/>
          </a:prstGeom>
          <a:ln w="95504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5400000">
            <a:off x="5449094" y="5142706"/>
            <a:ext cx="685800" cy="1588"/>
          </a:xfrm>
          <a:prstGeom prst="line">
            <a:avLst/>
          </a:prstGeom>
          <a:ln w="95504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419894" y="6209506"/>
            <a:ext cx="685800" cy="1588"/>
          </a:xfrm>
          <a:prstGeom prst="line">
            <a:avLst/>
          </a:prstGeom>
          <a:ln w="95504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rot="5400000">
            <a:off x="7315994" y="6171406"/>
            <a:ext cx="609600" cy="1588"/>
          </a:xfrm>
          <a:prstGeom prst="line">
            <a:avLst/>
          </a:prstGeom>
          <a:ln w="95504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rot="10800000">
            <a:off x="762000" y="6400800"/>
            <a:ext cx="6858000" cy="158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29" name="TextBox 44"/>
          <p:cNvSpPr txBox="1">
            <a:spLocks noChangeArrowheads="1"/>
          </p:cNvSpPr>
          <p:nvPr/>
        </p:nvSpPr>
        <p:spPr bwMode="auto">
          <a:xfrm>
            <a:off x="5943600" y="5638800"/>
            <a:ext cx="1447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dirty="0"/>
              <a:t>Fill card detail</a:t>
            </a:r>
            <a:endParaRPr lang="en-US" dirty="0"/>
          </a:p>
        </p:txBody>
      </p:sp>
      <p:sp>
        <p:nvSpPr>
          <p:cNvPr id="12330" name="TextBox 44"/>
          <p:cNvSpPr txBox="1">
            <a:spLocks noChangeArrowheads="1"/>
          </p:cNvSpPr>
          <p:nvPr/>
        </p:nvSpPr>
        <p:spPr bwMode="auto">
          <a:xfrm>
            <a:off x="838200" y="6096000"/>
            <a:ext cx="1447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dirty="0"/>
              <a:t>Ride Confirmed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  <a:solidFill>
            <a:schemeClr val="bg1"/>
          </a:solidFill>
        </p:spPr>
        <p:txBody>
          <a:bodyPr vert="horz">
            <a:normAutofit/>
          </a:bodyPr>
          <a:lstStyle/>
          <a:p>
            <a:pPr eaLnBrk="1" hangingPunct="1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381000" y="838200"/>
            <a:ext cx="8458200" cy="5334000"/>
          </a:xfrm>
          <a:solidFill>
            <a:schemeClr val="bg1"/>
          </a:solidFill>
        </p:spPr>
        <p:txBody>
          <a:bodyPr vert="horz"/>
          <a:lstStyle/>
          <a:p>
            <a:pPr marL="742950" indent="-742950" algn="just" eaLnBrk="1" hangingPunct="1"/>
            <a:endParaRPr lang="en-IN" sz="4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sz="4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sz="4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IN" sz="4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hangingPunct="1"/>
            <a:endParaRPr lang="en-US" sz="4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8200" y="1676400"/>
            <a:ext cx="12192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Login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214282" y="714356"/>
            <a:ext cx="1004918" cy="5810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3400" y="1676400"/>
            <a:ext cx="11430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</a:t>
            </a:r>
            <a:endParaRPr lang="en-US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Diamond 9"/>
          <p:cNvSpPr/>
          <p:nvPr/>
        </p:nvSpPr>
        <p:spPr>
          <a:xfrm>
            <a:off x="2667000" y="1371600"/>
            <a:ext cx="1066800" cy="91440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Verify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15000" y="2971800"/>
            <a:ext cx="12954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Ride</a:t>
            </a:r>
            <a:endParaRPr lang="en-US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Diamond 11"/>
          <p:cNvSpPr/>
          <p:nvPr/>
        </p:nvSpPr>
        <p:spPr>
          <a:xfrm>
            <a:off x="4343400" y="2667000"/>
            <a:ext cx="1066800" cy="91440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Search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3834" y="1714488"/>
            <a:ext cx="12192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Review</a:t>
            </a:r>
            <a:endParaRPr lang="en-US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Diamond 13"/>
          <p:cNvSpPr/>
          <p:nvPr/>
        </p:nvSpPr>
        <p:spPr>
          <a:xfrm>
            <a:off x="6143636" y="1357298"/>
            <a:ext cx="1200152" cy="91440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Give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Diamond 14"/>
          <p:cNvSpPr/>
          <p:nvPr/>
        </p:nvSpPr>
        <p:spPr>
          <a:xfrm>
            <a:off x="2786050" y="3200400"/>
            <a:ext cx="1214446" cy="91440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Does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28662" y="5286388"/>
            <a:ext cx="12954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Payment</a:t>
            </a:r>
            <a:endParaRPr lang="en-US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Connector 22"/>
          <p:cNvCxnSpPr>
            <a:stCxn id="7" idx="3"/>
          </p:cNvCxnSpPr>
          <p:nvPr/>
        </p:nvCxnSpPr>
        <p:spPr>
          <a:xfrm>
            <a:off x="2057400" y="1828800"/>
            <a:ext cx="6096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733800" y="1828800"/>
            <a:ext cx="6096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3"/>
            <a:endCxn id="14" idx="1"/>
          </p:cNvCxnSpPr>
          <p:nvPr/>
        </p:nvCxnSpPr>
        <p:spPr>
          <a:xfrm flipV="1">
            <a:off x="5486400" y="1814498"/>
            <a:ext cx="657236" cy="143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4535487" y="2322513"/>
            <a:ext cx="684213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13" idx="1"/>
            <a:endCxn id="14" idx="3"/>
          </p:cNvCxnSpPr>
          <p:nvPr/>
        </p:nvCxnSpPr>
        <p:spPr>
          <a:xfrm rot="10800000">
            <a:off x="7343788" y="1814498"/>
            <a:ext cx="300046" cy="523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2" idx="3"/>
            <a:endCxn id="11" idx="1"/>
          </p:cNvCxnSpPr>
          <p:nvPr/>
        </p:nvCxnSpPr>
        <p:spPr>
          <a:xfrm>
            <a:off x="5410200" y="3124200"/>
            <a:ext cx="304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676400" y="785794"/>
            <a:ext cx="966774" cy="50960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Password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6" name="Straight Connector 65"/>
          <p:cNvCxnSpPr>
            <a:stCxn id="8" idx="4"/>
          </p:cNvCxnSpPr>
          <p:nvPr/>
        </p:nvCxnSpPr>
        <p:spPr>
          <a:xfrm rot="16200000" flipH="1">
            <a:off x="739370" y="1272771"/>
            <a:ext cx="381000" cy="4262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4" idx="4"/>
          </p:cNvCxnSpPr>
          <p:nvPr/>
        </p:nvCxnSpPr>
        <p:spPr>
          <a:xfrm rot="5400000">
            <a:off x="1765694" y="1282307"/>
            <a:ext cx="381001" cy="4071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357818" y="214290"/>
            <a:ext cx="1000132" cy="5238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username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5786446" y="928670"/>
            <a:ext cx="785818" cy="5715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3000364" y="214290"/>
            <a:ext cx="1123952" cy="52387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id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4214810" y="285728"/>
            <a:ext cx="1071570" cy="5953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password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7" name="Straight Connector 76"/>
          <p:cNvCxnSpPr>
            <a:stCxn id="9" idx="0"/>
            <a:endCxn id="74" idx="4"/>
          </p:cNvCxnSpPr>
          <p:nvPr/>
        </p:nvCxnSpPr>
        <p:spPr>
          <a:xfrm rot="16200000" flipV="1">
            <a:off x="3769503" y="531003"/>
            <a:ext cx="938234" cy="1352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9" idx="0"/>
            <a:endCxn id="75" idx="4"/>
          </p:cNvCxnSpPr>
          <p:nvPr/>
        </p:nvCxnSpPr>
        <p:spPr>
          <a:xfrm rot="16200000" flipV="1">
            <a:off x="4435069" y="1196568"/>
            <a:ext cx="795358" cy="1643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2" idx="4"/>
            <a:endCxn id="9" idx="0"/>
          </p:cNvCxnSpPr>
          <p:nvPr/>
        </p:nvCxnSpPr>
        <p:spPr>
          <a:xfrm rot="5400000">
            <a:off x="4917275" y="735791"/>
            <a:ext cx="938234" cy="9429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9" idx="0"/>
            <a:endCxn id="73" idx="2"/>
          </p:cNvCxnSpPr>
          <p:nvPr/>
        </p:nvCxnSpPr>
        <p:spPr>
          <a:xfrm rot="5400000" flipH="1" flipV="1">
            <a:off x="5119684" y="1009638"/>
            <a:ext cx="461978" cy="871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7643834" y="500042"/>
            <a:ext cx="1123952" cy="4524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rating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6858016" y="2428868"/>
            <a:ext cx="1000132" cy="5000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reviewText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7429520" y="3143248"/>
            <a:ext cx="928694" cy="5000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username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8143900" y="2500306"/>
            <a:ext cx="838200" cy="5000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id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4" name="Straight Connector 93"/>
          <p:cNvCxnSpPr>
            <a:stCxn id="13" idx="0"/>
            <a:endCxn id="89" idx="4"/>
          </p:cNvCxnSpPr>
          <p:nvPr/>
        </p:nvCxnSpPr>
        <p:spPr>
          <a:xfrm rot="16200000" flipV="1">
            <a:off x="7848618" y="1309672"/>
            <a:ext cx="762008" cy="476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3" idx="2"/>
            <a:endCxn id="90" idx="0"/>
          </p:cNvCxnSpPr>
          <p:nvPr/>
        </p:nvCxnSpPr>
        <p:spPr>
          <a:xfrm rot="5400000">
            <a:off x="7600968" y="1776402"/>
            <a:ext cx="409580" cy="895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13" idx="2"/>
            <a:endCxn id="91" idx="0"/>
          </p:cNvCxnSpPr>
          <p:nvPr/>
        </p:nvCxnSpPr>
        <p:spPr>
          <a:xfrm rot="5400000">
            <a:off x="7511671" y="2401485"/>
            <a:ext cx="1123960" cy="3595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13" idx="2"/>
            <a:endCxn id="92" idx="0"/>
          </p:cNvCxnSpPr>
          <p:nvPr/>
        </p:nvCxnSpPr>
        <p:spPr>
          <a:xfrm rot="16200000" flipH="1">
            <a:off x="8167708" y="2105014"/>
            <a:ext cx="481018" cy="3095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6072198" y="4429132"/>
            <a:ext cx="1143008" cy="5715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vehicle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7429520" y="3786190"/>
            <a:ext cx="1143008" cy="5715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source</a:t>
            </a:r>
          </a:p>
        </p:txBody>
      </p:sp>
      <p:sp>
        <p:nvSpPr>
          <p:cNvPr id="105" name="Oval 104"/>
          <p:cNvSpPr/>
          <p:nvPr/>
        </p:nvSpPr>
        <p:spPr>
          <a:xfrm>
            <a:off x="7286644" y="4643446"/>
            <a:ext cx="1143008" cy="5715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destination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7" name="Straight Connector 106"/>
          <p:cNvCxnSpPr>
            <a:stCxn id="11" idx="2"/>
            <a:endCxn id="105" idx="1"/>
          </p:cNvCxnSpPr>
          <p:nvPr/>
        </p:nvCxnSpPr>
        <p:spPr>
          <a:xfrm rot="16200000" flipH="1">
            <a:off x="6183097" y="3456203"/>
            <a:ext cx="1450541" cy="1091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1" idx="2"/>
            <a:endCxn id="104" idx="1"/>
          </p:cNvCxnSpPr>
          <p:nvPr/>
        </p:nvCxnSpPr>
        <p:spPr>
          <a:xfrm rot="16200000" flipH="1">
            <a:off x="6683163" y="2956137"/>
            <a:ext cx="593285" cy="12342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1" idx="2"/>
            <a:endCxn id="103" idx="0"/>
          </p:cNvCxnSpPr>
          <p:nvPr/>
        </p:nvCxnSpPr>
        <p:spPr>
          <a:xfrm rot="16200000" flipH="1">
            <a:off x="5926935" y="3712365"/>
            <a:ext cx="1152532" cy="2810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214282" y="6072206"/>
            <a:ext cx="8382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cvvNumber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990600" y="6324600"/>
            <a:ext cx="8382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cardNumber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1752600" y="5943600"/>
            <a:ext cx="8382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id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4" name="Straight Connector 123"/>
          <p:cNvCxnSpPr>
            <a:endCxn id="120" idx="0"/>
          </p:cNvCxnSpPr>
          <p:nvPr/>
        </p:nvCxnSpPr>
        <p:spPr>
          <a:xfrm rot="10800000" flipV="1">
            <a:off x="633382" y="5562600"/>
            <a:ext cx="814418" cy="5096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endCxn id="121" idx="0"/>
          </p:cNvCxnSpPr>
          <p:nvPr/>
        </p:nvCxnSpPr>
        <p:spPr>
          <a:xfrm rot="5400000">
            <a:off x="1047750" y="5924550"/>
            <a:ext cx="762000" cy="38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>
            <a:endCxn id="122" idx="0"/>
          </p:cNvCxnSpPr>
          <p:nvPr/>
        </p:nvCxnSpPr>
        <p:spPr>
          <a:xfrm>
            <a:off x="1447800" y="5562600"/>
            <a:ext cx="723900" cy="381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68" name="TextBox 58"/>
          <p:cNvSpPr txBox="1">
            <a:spLocks noChangeArrowheads="1"/>
          </p:cNvSpPr>
          <p:nvPr/>
        </p:nvSpPr>
        <p:spPr bwMode="auto">
          <a:xfrm>
            <a:off x="2143108" y="1428736"/>
            <a:ext cx="500066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1:1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69" name="TextBox 59"/>
          <p:cNvSpPr txBox="1">
            <a:spLocks noChangeArrowheads="1"/>
          </p:cNvSpPr>
          <p:nvPr/>
        </p:nvSpPr>
        <p:spPr bwMode="auto">
          <a:xfrm>
            <a:off x="5643570" y="1928802"/>
            <a:ext cx="67710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1:N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70" name="TextBox 61"/>
          <p:cNvSpPr txBox="1">
            <a:spLocks noChangeArrowheads="1"/>
          </p:cNvSpPr>
          <p:nvPr/>
        </p:nvSpPr>
        <p:spPr bwMode="auto">
          <a:xfrm>
            <a:off x="4953000" y="2209800"/>
            <a:ext cx="67710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1:N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71" name="TextBox 64"/>
          <p:cNvSpPr txBox="1">
            <a:spLocks noChangeArrowheads="1"/>
          </p:cNvSpPr>
          <p:nvPr/>
        </p:nvSpPr>
        <p:spPr bwMode="auto">
          <a:xfrm>
            <a:off x="3505200" y="2667000"/>
            <a:ext cx="677108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>
            <a:sp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1:N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Diamond 80"/>
          <p:cNvSpPr/>
          <p:nvPr/>
        </p:nvSpPr>
        <p:spPr>
          <a:xfrm>
            <a:off x="928662" y="2357430"/>
            <a:ext cx="1052538" cy="919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Verify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38200" y="3657600"/>
            <a:ext cx="12192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Admin</a:t>
            </a:r>
            <a:endParaRPr lang="en-US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5" name="Straight Connector 84"/>
          <p:cNvCxnSpPr>
            <a:stCxn id="7" idx="2"/>
            <a:endCxn id="81" idx="0"/>
          </p:cNvCxnSpPr>
          <p:nvPr/>
        </p:nvCxnSpPr>
        <p:spPr>
          <a:xfrm rot="16200000" flipH="1">
            <a:off x="1263250" y="2165749"/>
            <a:ext cx="376230" cy="7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81" idx="2"/>
            <a:endCxn id="82" idx="0"/>
          </p:cNvCxnSpPr>
          <p:nvPr/>
        </p:nvCxnSpPr>
        <p:spPr>
          <a:xfrm rot="5400000">
            <a:off x="1260866" y="3463535"/>
            <a:ext cx="381000" cy="7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152400" y="3048000"/>
            <a:ext cx="8382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id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1981200" y="3048000"/>
            <a:ext cx="8382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152400" y="4114800"/>
            <a:ext cx="8382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password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8" name="Straight Connector 107"/>
          <p:cNvCxnSpPr>
            <a:stCxn id="82" idx="1"/>
            <a:endCxn id="95" idx="4"/>
          </p:cNvCxnSpPr>
          <p:nvPr/>
        </p:nvCxnSpPr>
        <p:spPr>
          <a:xfrm rot="10800000">
            <a:off x="571500" y="3429000"/>
            <a:ext cx="2667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82" idx="1"/>
            <a:endCxn id="99" idx="0"/>
          </p:cNvCxnSpPr>
          <p:nvPr/>
        </p:nvCxnSpPr>
        <p:spPr>
          <a:xfrm rot="10800000" flipV="1">
            <a:off x="571500" y="3810000"/>
            <a:ext cx="26670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97" idx="4"/>
            <a:endCxn id="82" idx="3"/>
          </p:cNvCxnSpPr>
          <p:nvPr/>
        </p:nvCxnSpPr>
        <p:spPr>
          <a:xfrm rot="5400000">
            <a:off x="2038350" y="3448050"/>
            <a:ext cx="381000" cy="342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82" name="TextBox 58"/>
          <p:cNvSpPr txBox="1">
            <a:spLocks noChangeArrowheads="1"/>
          </p:cNvSpPr>
          <p:nvPr/>
        </p:nvSpPr>
        <p:spPr bwMode="auto">
          <a:xfrm>
            <a:off x="1524000" y="2057400"/>
            <a:ext cx="67710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1:1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7" name="Elbow Connector 166"/>
          <p:cNvCxnSpPr>
            <a:endCxn id="15" idx="0"/>
          </p:cNvCxnSpPr>
          <p:nvPr/>
        </p:nvCxnSpPr>
        <p:spPr>
          <a:xfrm rot="5400000">
            <a:off x="3373038" y="2001436"/>
            <a:ext cx="1219199" cy="11787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 195"/>
          <p:cNvSpPr/>
          <p:nvPr/>
        </p:nvSpPr>
        <p:spPr>
          <a:xfrm>
            <a:off x="2971800" y="4495800"/>
            <a:ext cx="12954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Booking</a:t>
            </a:r>
            <a:endParaRPr lang="en-US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4" name="Elbow Connector 203"/>
          <p:cNvCxnSpPr>
            <a:stCxn id="15" idx="2"/>
            <a:endCxn id="196" idx="0"/>
          </p:cNvCxnSpPr>
          <p:nvPr/>
        </p:nvCxnSpPr>
        <p:spPr>
          <a:xfrm rot="16200000" flipH="1">
            <a:off x="3315886" y="4192186"/>
            <a:ext cx="381000" cy="2262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Oval 208"/>
          <p:cNvSpPr/>
          <p:nvPr/>
        </p:nvSpPr>
        <p:spPr>
          <a:xfrm>
            <a:off x="4267200" y="3886200"/>
            <a:ext cx="8382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id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0" name="Oval 209"/>
          <p:cNvSpPr/>
          <p:nvPr/>
        </p:nvSpPr>
        <p:spPr>
          <a:xfrm>
            <a:off x="5000628" y="5572140"/>
            <a:ext cx="1000132" cy="4286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source</a:t>
            </a:r>
          </a:p>
        </p:txBody>
      </p:sp>
      <p:sp>
        <p:nvSpPr>
          <p:cNvPr id="211" name="Oval 210"/>
          <p:cNvSpPr/>
          <p:nvPr/>
        </p:nvSpPr>
        <p:spPr>
          <a:xfrm>
            <a:off x="5000628" y="6143644"/>
            <a:ext cx="1285884" cy="50960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Destination</a:t>
            </a:r>
            <a:endParaRPr lang="en-US"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2" name="Oval 211"/>
          <p:cNvSpPr/>
          <p:nvPr/>
        </p:nvSpPr>
        <p:spPr>
          <a:xfrm>
            <a:off x="2571736" y="6143644"/>
            <a:ext cx="952512" cy="5000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US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otp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3" name="Oval 212"/>
          <p:cNvSpPr/>
          <p:nvPr/>
        </p:nvSpPr>
        <p:spPr>
          <a:xfrm>
            <a:off x="3500430" y="5643578"/>
            <a:ext cx="1071570" cy="7143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vehicletype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4" name="Oval 213"/>
          <p:cNvSpPr/>
          <p:nvPr/>
        </p:nvSpPr>
        <p:spPr>
          <a:xfrm>
            <a:off x="2428860" y="5429264"/>
            <a:ext cx="928694" cy="5000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Price </a:t>
            </a:r>
          </a:p>
        </p:txBody>
      </p:sp>
      <p:cxnSp>
        <p:nvCxnSpPr>
          <p:cNvPr id="216" name="Straight Connector 215"/>
          <p:cNvCxnSpPr>
            <a:stCxn id="196" idx="0"/>
            <a:endCxn id="209" idx="2"/>
          </p:cNvCxnSpPr>
          <p:nvPr/>
        </p:nvCxnSpPr>
        <p:spPr>
          <a:xfrm rot="5400000" flipH="1" flipV="1">
            <a:off x="3733800" y="3962400"/>
            <a:ext cx="419100" cy="647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/>
          <p:cNvCxnSpPr>
            <a:stCxn id="196" idx="2"/>
            <a:endCxn id="210" idx="0"/>
          </p:cNvCxnSpPr>
          <p:nvPr/>
        </p:nvCxnSpPr>
        <p:spPr>
          <a:xfrm rot="16200000" flipH="1">
            <a:off x="4174327" y="4245773"/>
            <a:ext cx="771540" cy="18811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>
            <a:stCxn id="196" idx="2"/>
            <a:endCxn id="214" idx="0"/>
          </p:cNvCxnSpPr>
          <p:nvPr/>
        </p:nvCxnSpPr>
        <p:spPr>
          <a:xfrm rot="5400000">
            <a:off x="2942022" y="4751786"/>
            <a:ext cx="628664" cy="726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/>
          <p:cNvCxnSpPr>
            <a:stCxn id="196" idx="2"/>
            <a:endCxn id="211" idx="1"/>
          </p:cNvCxnSpPr>
          <p:nvPr/>
        </p:nvCxnSpPr>
        <p:spPr>
          <a:xfrm rot="16200000" flipH="1">
            <a:off x="3695383" y="4724716"/>
            <a:ext cx="1417674" cy="15694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>
            <a:stCxn id="196" idx="2"/>
            <a:endCxn id="212" idx="7"/>
          </p:cNvCxnSpPr>
          <p:nvPr/>
        </p:nvCxnSpPr>
        <p:spPr>
          <a:xfrm rot="5400000">
            <a:off x="2793990" y="5391366"/>
            <a:ext cx="1416277" cy="2347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>
            <a:stCxn id="196" idx="2"/>
            <a:endCxn id="213" idx="0"/>
          </p:cNvCxnSpPr>
          <p:nvPr/>
        </p:nvCxnSpPr>
        <p:spPr>
          <a:xfrm rot="16200000" flipH="1">
            <a:off x="3406368" y="5013731"/>
            <a:ext cx="842978" cy="416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Elbow Connector 231"/>
          <p:cNvCxnSpPr>
            <a:stCxn id="15" idx="1"/>
            <a:endCxn id="16" idx="3"/>
          </p:cNvCxnSpPr>
          <p:nvPr/>
        </p:nvCxnSpPr>
        <p:spPr>
          <a:xfrm rot="10800000" flipV="1">
            <a:off x="2224062" y="3657600"/>
            <a:ext cx="561988" cy="17811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Diamond 232"/>
          <p:cNvSpPr/>
          <p:nvPr/>
        </p:nvSpPr>
        <p:spPr>
          <a:xfrm>
            <a:off x="990600" y="4191000"/>
            <a:ext cx="914400" cy="76200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>
              <a:defRPr/>
            </a:pP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has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5" name="Straight Connector 234"/>
          <p:cNvCxnSpPr>
            <a:stCxn id="233" idx="0"/>
            <a:endCxn id="82" idx="2"/>
          </p:cNvCxnSpPr>
          <p:nvPr/>
        </p:nvCxnSpPr>
        <p:spPr>
          <a:xfrm rot="5400000" flipH="1" flipV="1">
            <a:off x="1333501" y="4076700"/>
            <a:ext cx="228600" cy="3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Elbow Connector 245"/>
          <p:cNvCxnSpPr>
            <a:stCxn id="233" idx="3"/>
            <a:endCxn id="196" idx="1"/>
          </p:cNvCxnSpPr>
          <p:nvPr/>
        </p:nvCxnSpPr>
        <p:spPr>
          <a:xfrm>
            <a:off x="1905000" y="4572000"/>
            <a:ext cx="1066800" cy="76200"/>
          </a:xfrm>
          <a:prstGeom prst="bentConnector3">
            <a:avLst>
              <a:gd name="adj1" fmla="val 2697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Deepanshu </a:t>
            </a:r>
            <a:r>
              <a:rPr lang="en-US" dirty="0" err="1"/>
              <a:t>Rathore</a:t>
            </a:r>
            <a:endParaRPr lang="en-US" dirty="0"/>
          </a:p>
          <a:p>
            <a:pPr>
              <a:defRPr/>
            </a:pPr>
            <a:r>
              <a:rPr lang="en-IN" dirty="0"/>
              <a:t>0807CA231024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8600" y="76200"/>
            <a:ext cx="8686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</a:p>
        </p:txBody>
      </p:sp>
      <p:sp>
        <p:nvSpPr>
          <p:cNvPr id="16388" name="Subtitle 2"/>
          <p:cNvSpPr txBox="1">
            <a:spLocks/>
          </p:cNvSpPr>
          <p:nvPr/>
        </p:nvSpPr>
        <p:spPr bwMode="auto">
          <a:xfrm>
            <a:off x="457200" y="914400"/>
            <a:ext cx="8458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indent="-742950" algn="just">
              <a:spcBef>
                <a:spcPct val="20000"/>
              </a:spcBef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>
              <a:spcBef>
                <a:spcPct val="20000"/>
              </a:spcBef>
              <a:buFont typeface="Arial" charset="0"/>
              <a:buChar char="•"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>
              <a:spcBef>
                <a:spcPct val="20000"/>
              </a:spcBef>
              <a:buFont typeface="Arial" charset="0"/>
              <a:buChar char="•"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>
              <a:spcBef>
                <a:spcPct val="20000"/>
              </a:spcBef>
              <a:buFont typeface="Arial" charset="0"/>
              <a:buChar char="•"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>
              <a:spcBef>
                <a:spcPct val="20000"/>
              </a:spcBef>
              <a:buFont typeface="Arial" charset="0"/>
              <a:buChar char="•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9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System Design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Test Case Design (Manual / Automated)</a:t>
            </a: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813936"/>
              </p:ext>
            </p:extLst>
          </p:nvPr>
        </p:nvGraphicFramePr>
        <p:xfrm>
          <a:off x="228600" y="2057400"/>
          <a:ext cx="8763000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Test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Case No.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User Action (Button)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Expected Result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Observed</a:t>
                      </a:r>
                      <a:r>
                        <a:rPr lang="en-IN" sz="18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Result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Enter Correct Email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and Password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Webpage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should navigate to home page of website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When entered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email and password, home page appears.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Pass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Enter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Incorrect Email and Password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The user can’t book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ride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When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entered email and password it asked again to enter correct email and password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Pass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User search for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ride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Result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should be appear according to search action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When user search tour,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the result appear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Pass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User select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a ride and proceed booking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Tour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should be book.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Ride Booked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Pass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Enter</a:t>
                      </a:r>
                      <a:r>
                        <a:rPr lang="en-IN" sz="14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card detail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Payment should</a:t>
                      </a:r>
                      <a:r>
                        <a:rPr lang="en-IN" sz="1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be done.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Payment done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Pass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rmAutofit lnSpcReduction="10000"/>
          </a:bodyPr>
          <a:lstStyle/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Frontend</a:t>
            </a:r>
          </a:p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buSzPct val="111000"/>
              <a:buFont typeface="Arial" pitchFamily="34" charset="0"/>
              <a:buChar char="•"/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HTML : 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used to create structure of the website.</a:t>
            </a: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buSzPct val="111000"/>
              <a:buFont typeface="Arial" pitchFamily="34" charset="0"/>
              <a:buChar char="•"/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CSS 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Cascading Style Sheets is a style sheet language used for specifying the presentation and styling of a document written in a markup language such as HTML.</a:t>
            </a: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buSzPct val="111000"/>
              <a:buFont typeface="Arial" pitchFamily="34" charset="0"/>
              <a:buChar char="•"/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JavaScript : 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JavaScript is used to add functionality to the website.</a:t>
            </a:r>
            <a:endParaRPr lang="en-IN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buSzPct val="111000"/>
              <a:buFont typeface="Arial" pitchFamily="34" charset="0"/>
              <a:buChar char="•"/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React.js 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React.js is a JavaScript library for building user interfaces.</a:t>
            </a: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buSzPct val="111000"/>
              <a:buFont typeface="Arial" pitchFamily="34" charset="0"/>
              <a:buChar char="•"/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Bootstrap 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Bootstrap is a popular front-end framework for building responsive and visually appealing websites and web applications using HTML, CSS, and JavaScript components.</a:t>
            </a:r>
            <a:endParaRPr lang="en-IN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2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3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Tools Used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14400"/>
            <a:ext cx="8458200" cy="5334000"/>
          </a:xfrm>
        </p:spPr>
        <p:txBody>
          <a:bodyPr rtlCol="0">
            <a:noAutofit/>
          </a:bodyPr>
          <a:lstStyle/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Backend</a:t>
            </a:r>
          </a:p>
          <a:p>
            <a:pPr marL="742950" indent="-742950" algn="l" eaLnBrk="1" fontAlgn="auto" hangingPunct="1">
              <a:lnSpc>
                <a:spcPct val="150000"/>
              </a:lnSpc>
              <a:spcAft>
                <a:spcPts val="0"/>
              </a:spcAft>
              <a:buSzPct val="111000"/>
              <a:buFont typeface="Arial" pitchFamily="34" charset="0"/>
              <a:buChar char="•"/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Node.js: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Node.js is a runtime environment that allows you to execute JavaScript code on the server side, enabling scalable and efficient network applications.</a:t>
            </a: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buSzPct val="111000"/>
              <a:buFont typeface="Arial" pitchFamily="34" charset="0"/>
              <a:buChar char="•"/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Express.js: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Express.js is a web application framework for Node.js, designed to build robust and efficient web applications and APIs with ease.</a:t>
            </a: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buSzPct val="111000"/>
              <a:buFont typeface="Arial" pitchFamily="34" charset="0"/>
              <a:buChar char="•"/>
              <a:defRPr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MongoDB: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MongoDB is a popular NoSQL database management system that uses a document-oriented data model to store and retrieve data, providing flexibility and scalability for modern applications.</a:t>
            </a: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6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7" name="TextBox 4"/>
          <p:cNvSpPr txBox="1">
            <a:spLocks noChangeArrowheads="1"/>
          </p:cNvSpPr>
          <p:nvPr/>
        </p:nvSpPr>
        <p:spPr bwMode="auto">
          <a:xfrm>
            <a:off x="609600" y="914400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Tools Used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7620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Testing</a:t>
            </a:r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1" name="TextBox 6"/>
          <p:cNvSpPr txBox="1">
            <a:spLocks noChangeArrowheads="1"/>
          </p:cNvSpPr>
          <p:nvPr/>
        </p:nvSpPr>
        <p:spPr bwMode="auto">
          <a:xfrm>
            <a:off x="533400" y="1295400"/>
            <a:ext cx="8229600" cy="557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Objective of Testing :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The objective of testing is to find bugs that may exist, mainly  through the implementation of the whole program. A good testing scheme can achieve not only the goal of finding bugs but also the goal of maximizing efficiency.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Testing Methods :  </a:t>
            </a:r>
          </a:p>
          <a:p>
            <a:pPr ea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 Unit Testing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: Testing small parts (units) of the program one by one to make sure they work correctly on their own.</a:t>
            </a:r>
          </a:p>
          <a:p>
            <a:pPr ea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 Integration Testing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: Testing how different parts of the program work together. This checks if they communicate and function well together.</a:t>
            </a:r>
          </a:p>
          <a:p>
            <a:pPr eaLnBrk="1" hangingPunct="1">
              <a:lnSpc>
                <a:spcPct val="150000"/>
              </a:lnSpc>
              <a:buFont typeface="Arial" charset="0"/>
              <a:buChar char="•"/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 System Testing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: Testing the whole program as a complete system to see if it meets all   requirements and works properly.</a:t>
            </a:r>
          </a:p>
          <a:p>
            <a:pPr algn="just" eaLnBrk="1" hangingPunct="1">
              <a:lnSpc>
                <a:spcPct val="150000"/>
              </a:lnSpc>
            </a:pPr>
            <a:endParaRPr lang="en-US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7620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  <a:endParaRPr lang="en-US" dirty="0"/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124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5" name="TextBox 5"/>
          <p:cNvSpPr txBox="1">
            <a:spLocks noChangeArrowheads="1"/>
          </p:cNvSpPr>
          <p:nvPr/>
        </p:nvSpPr>
        <p:spPr bwMode="auto">
          <a:xfrm>
            <a:off x="342900" y="1268760"/>
            <a:ext cx="84582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Captain Functions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Captain can log in.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Captain can view available ride requests from users.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Captain can accept or reject ride requests.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Captain can view and update their profile and vehicle details.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Captain can mark rides as started or completed.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Captain can log out.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TextBox 5"/>
          <p:cNvSpPr txBox="1">
            <a:spLocks noChangeArrowheads="1"/>
          </p:cNvSpPr>
          <p:nvPr/>
        </p:nvSpPr>
        <p:spPr bwMode="auto">
          <a:xfrm>
            <a:off x="457200" y="3163888"/>
            <a:ext cx="6851104" cy="3370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200" b="1" dirty="0">
                <a:latin typeface="Times New Roman" pitchFamily="18" charset="0"/>
                <a:cs typeface="Times New Roman" pitchFamily="18" charset="0"/>
              </a:rPr>
              <a:t>User functions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User can sign up and log in.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User can select source and destination.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User can view available vehicle options.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User can book a ride and view ride details.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User receives OTP to start the ride.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User can track ride status and location.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User can make payment via QR code after ride completion.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User can view ride history.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User can log out.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/>
              <a:t>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7620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Screen layouts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148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50" name="TextBox 7"/>
          <p:cNvSpPr txBox="1">
            <a:spLocks noChangeArrowheads="1"/>
          </p:cNvSpPr>
          <p:nvPr/>
        </p:nvSpPr>
        <p:spPr bwMode="auto">
          <a:xfrm>
            <a:off x="2590800" y="5638800"/>
            <a:ext cx="4343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Fig. 1.1 : Register page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73" y="1628801"/>
            <a:ext cx="8630854" cy="401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7620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Screen layouts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172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3" name="TextBox 7"/>
          <p:cNvSpPr txBox="1">
            <a:spLocks noChangeArrowheads="1"/>
          </p:cNvSpPr>
          <p:nvPr/>
        </p:nvSpPr>
        <p:spPr bwMode="auto">
          <a:xfrm>
            <a:off x="2590800" y="5638800"/>
            <a:ext cx="4343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Fig. 1.2 : Login page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2" y="1772817"/>
            <a:ext cx="8992855" cy="3600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7620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Screen layouts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196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7" name="TextBox 7"/>
          <p:cNvSpPr txBox="1">
            <a:spLocks noChangeArrowheads="1"/>
          </p:cNvSpPr>
          <p:nvPr/>
        </p:nvSpPr>
        <p:spPr bwMode="auto">
          <a:xfrm>
            <a:off x="2514600" y="6248400"/>
            <a:ext cx="4343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Fig. 1.3 : Home page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3636"/>
            <a:ext cx="9144000" cy="433998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7620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Screen layouts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220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21" name="TextBox 7"/>
          <p:cNvSpPr txBox="1">
            <a:spLocks noChangeArrowheads="1"/>
          </p:cNvSpPr>
          <p:nvPr/>
        </p:nvSpPr>
        <p:spPr bwMode="auto">
          <a:xfrm>
            <a:off x="2514600" y="6248400"/>
            <a:ext cx="4343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Fig. 1.4 : </a:t>
            </a:r>
            <a:r>
              <a:rPr lang="en-US" altLang="en-US" b="1" dirty="0" err="1">
                <a:latin typeface="Times New Roman" pitchFamily="18" charset="0"/>
                <a:cs typeface="Times New Roman" pitchFamily="18" charset="0"/>
              </a:rPr>
              <a:t>UserDashboard</a:t>
            </a: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 page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369433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7620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Screen layouts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244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5" name="TextBox 7"/>
          <p:cNvSpPr txBox="1">
            <a:spLocks noChangeArrowheads="1"/>
          </p:cNvSpPr>
          <p:nvPr/>
        </p:nvSpPr>
        <p:spPr bwMode="auto">
          <a:xfrm>
            <a:off x="2514600" y="6248400"/>
            <a:ext cx="4343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Fig. 1.5 : Captain Dashboard page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8209"/>
            <a:ext cx="9144000" cy="398047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7620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Screen layouts</a:t>
            </a: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268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9" name="TextBox 7"/>
          <p:cNvSpPr txBox="1">
            <a:spLocks noChangeArrowheads="1"/>
          </p:cNvSpPr>
          <p:nvPr/>
        </p:nvSpPr>
        <p:spPr bwMode="auto">
          <a:xfrm>
            <a:off x="2514600" y="6248400"/>
            <a:ext cx="4343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Fig. 1.6 : Ride page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7392"/>
            <a:ext cx="9144000" cy="446480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7620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Conclusions</a:t>
            </a:r>
            <a:endParaRPr lang="en-US" dirty="0"/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742950" indent="-742950" algn="just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388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9" name="TextBox 6"/>
          <p:cNvSpPr txBox="1">
            <a:spLocks noChangeArrowheads="1"/>
          </p:cNvSpPr>
          <p:nvPr/>
        </p:nvSpPr>
        <p:spPr bwMode="auto">
          <a:xfrm>
            <a:off x="533400" y="1447800"/>
            <a:ext cx="8229600" cy="466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  <a:defRPr/>
            </a:pP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Difficulties encountered during project</a:t>
            </a:r>
          </a:p>
          <a:p>
            <a:pPr marL="342900" indent="-342900" algn="just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When the project is developing that time I have lack of information of  Node.js that time I take help of online tutorials.</a:t>
            </a:r>
          </a:p>
          <a:p>
            <a:pPr marL="342900" indent="-342900" algn="just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At the time of development analysis gives me problem how to start the project and from where place start the development.</a:t>
            </a:r>
          </a:p>
          <a:p>
            <a:pPr marL="342900" indent="-342900" algn="just" eaLnBrk="1" hangingPunct="1">
              <a:lnSpc>
                <a:spcPct val="150000"/>
              </a:lnSpc>
              <a:defRPr/>
            </a:pP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Limitations of the system </a:t>
            </a:r>
          </a:p>
          <a:p>
            <a:pPr marL="342900" indent="-342900" algn="just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Payment Gateway is not incorporated for users to pay publishing fee.</a:t>
            </a:r>
          </a:p>
          <a:p>
            <a:pPr marL="342900" indent="-342900" algn="just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System works in all platforms.</a:t>
            </a:r>
          </a:p>
          <a:p>
            <a:pPr marL="342900" indent="-342900" algn="just" eaLnBrk="1" hangingPunct="1">
              <a:lnSpc>
                <a:spcPct val="150000"/>
              </a:lnSpc>
              <a:defRPr/>
            </a:pP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Scope  of Future Enhancements</a:t>
            </a:r>
          </a:p>
          <a:p>
            <a:pPr marL="342900" indent="-342900" algn="just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Globalization of site</a:t>
            </a:r>
          </a:p>
          <a:p>
            <a:pPr marL="342900" indent="-342900" algn="just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Addition of  some more new categories may takes place.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685800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RideSwift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: A Smart Ride-Sharing Platform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</a:br>
            <a:endParaRPr lang="en-US" alt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762000"/>
            <a:ext cx="8458200" cy="5334000"/>
          </a:xfrm>
        </p:spPr>
        <p:txBody>
          <a:bodyPr rtlCol="0">
            <a:normAutofit/>
          </a:bodyPr>
          <a:lstStyle/>
          <a:p>
            <a:pPr marL="742950" indent="-742950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Bibliography</a:t>
            </a:r>
            <a:endParaRPr lang="en-US" dirty="0"/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412" name="TextBox 3"/>
          <p:cNvSpPr txBox="1">
            <a:spLocks noChangeArrowheads="1"/>
          </p:cNvSpPr>
          <p:nvPr/>
        </p:nvSpPr>
        <p:spPr bwMode="auto">
          <a:xfrm>
            <a:off x="3352800" y="6457950"/>
            <a:ext cx="579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9" name="TextBox 6"/>
          <p:cNvSpPr txBox="1">
            <a:spLocks noChangeArrowheads="1"/>
          </p:cNvSpPr>
          <p:nvPr/>
        </p:nvSpPr>
        <p:spPr bwMode="auto">
          <a:xfrm>
            <a:off x="533400" y="1447800"/>
            <a:ext cx="8229600" cy="3232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</a:t>
            </a:r>
          </a:p>
          <a:p>
            <a:pPr marL="457200" indent="-457200" algn="just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“w3schools”, “JavaScript”,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https://www.w3Schools.com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“geeksforgeeks”, “React.js”,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https://www.geeksforgeeks.org/react-tutorial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“coder’s gyan”, “Node.js”,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https://www.youtube.com/c/CodersGyan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50000"/>
              </a:lnSpc>
              <a:buFont typeface="+mj-lt"/>
              <a:buAutoNum type="alphaLcParenR"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“geekyshows”, “Express.js, mongoDB”,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https://www.youtube.com/c/Geekyshows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2645</Words>
  <Application>Microsoft Office PowerPoint</Application>
  <PresentationFormat>On-screen Show (4:3)</PresentationFormat>
  <Paragraphs>588</Paragraphs>
  <Slides>42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Symbol</vt:lpstr>
      <vt:lpstr>Times New Roman</vt:lpstr>
      <vt:lpstr>Wingdings</vt:lpstr>
      <vt:lpstr>Office Theme</vt:lpstr>
      <vt:lpstr>Microsoft Excel 97-2003 Worksheet</vt:lpstr>
      <vt:lpstr>   Shri Vaishnav Institute of Management &amp; Science, Indore Department of Computer Science  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  </vt:lpstr>
      <vt:lpstr> RideSwift: A Smart Ride-Sharing Platform </vt:lpstr>
      <vt:lpstr> RideSwift: A Smart Ride-Sharing Platform   </vt:lpstr>
      <vt:lpstr> RideSwift: A Smart Ride-Sharing Platform   </vt:lpstr>
      <vt:lpstr> RideSwift: A Smart Ride-Sharing Platform   </vt:lpstr>
      <vt:lpstr> RideSwift: A Smart Ride-Sharing Platform </vt:lpstr>
      <vt:lpstr> RideSwift: A Smart Ride-Sharing Platform </vt:lpstr>
      <vt:lpstr> RideSwift: A Smart Ride-Sharing Platform   </vt:lpstr>
      <vt:lpstr> RideSwift: A Smart Ride-Sharing Platform   </vt:lpstr>
      <vt:lpstr>  </vt:lpstr>
      <vt:lpstr>PowerPoint Presentation</vt:lpstr>
      <vt:lpstr> RideSwift: A Smart Ride-Sharing Platform   </vt:lpstr>
      <vt:lpstr> RideSwift: A Smart Ride-Sharing Platform  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  <vt:lpstr> RideSwift: A Smart Ride-Sharing Platform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Digital_Lab3</dc:creator>
  <cp:lastModifiedBy>Deepanshu Rathore</cp:lastModifiedBy>
  <cp:revision>37</cp:revision>
  <dcterms:created xsi:type="dcterms:W3CDTF">2024-05-30T02:12:16Z</dcterms:created>
  <dcterms:modified xsi:type="dcterms:W3CDTF">2025-05-04T16:12:47Z</dcterms:modified>
</cp:coreProperties>
</file>